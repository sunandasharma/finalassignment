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45"/>
  </p:notesMasterIdLst>
  <p:sldIdLst>
    <p:sldId id="256" r:id="rId5"/>
    <p:sldId id="257" r:id="rId6"/>
    <p:sldId id="303" r:id="rId7"/>
    <p:sldId id="259" r:id="rId8"/>
    <p:sldId id="260" r:id="rId9"/>
    <p:sldId id="276" r:id="rId10"/>
    <p:sldId id="277" r:id="rId11"/>
    <p:sldId id="307" r:id="rId12"/>
    <p:sldId id="278" r:id="rId13"/>
    <p:sldId id="279" r:id="rId14"/>
    <p:sldId id="280" r:id="rId15"/>
    <p:sldId id="281" r:id="rId16"/>
    <p:sldId id="261" r:id="rId17"/>
    <p:sldId id="282" r:id="rId18"/>
    <p:sldId id="283" r:id="rId19"/>
    <p:sldId id="284" r:id="rId20"/>
    <p:sldId id="285" r:id="rId21"/>
    <p:sldId id="286" r:id="rId22"/>
    <p:sldId id="287" r:id="rId23"/>
    <p:sldId id="288" r:id="rId24"/>
    <p:sldId id="289" r:id="rId25"/>
    <p:sldId id="290" r:id="rId26"/>
    <p:sldId id="291" r:id="rId27"/>
    <p:sldId id="292" r:id="rId28"/>
    <p:sldId id="293" r:id="rId29"/>
    <p:sldId id="294" r:id="rId30"/>
    <p:sldId id="295" r:id="rId31"/>
    <p:sldId id="296" r:id="rId32"/>
    <p:sldId id="297" r:id="rId33"/>
    <p:sldId id="298" r:id="rId34"/>
    <p:sldId id="299" r:id="rId35"/>
    <p:sldId id="300" r:id="rId36"/>
    <p:sldId id="301" r:id="rId37"/>
    <p:sldId id="302" r:id="rId38"/>
    <p:sldId id="266" r:id="rId39"/>
    <p:sldId id="267" r:id="rId40"/>
    <p:sldId id="268" r:id="rId41"/>
    <p:sldId id="270" r:id="rId42"/>
    <p:sldId id="306" r:id="rId43"/>
    <p:sldId id="273" r:id="rId44"/>
  </p:sldIdLst>
  <p:sldSz cx="12192000" cy="6858000"/>
  <p:notesSz cx="6858000" cy="1857375"/>
  <p:custDataLst>
    <p:tags r:id="rId4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44" userDrawn="1">
          <p15:clr>
            <a:srgbClr val="A4A3A4"/>
          </p15:clr>
        </p15:guide>
        <p15:guide id="2" pos="28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D3AA52-0FB4-F6D0-6D07-1A3D2D9FD3FC}" name="Marianne Seidler" initials="MS" userId="S::mariannes@skillup.tech::bb0b4178-c940-4a9a-9c5e-e97bf5d50d86" providerId="AD"/>
  <p188:author id="{F554C3DC-94B8-9F7D-83FC-6D4CEC0DE845}" name="Dawn Teel-Friedman" initials="DTF" userId="Dawn Teel-Friedma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Beth Larsen" initials="BL" lastIdx="1" clrIdx="4">
    <p:extLst>
      <p:ext uri="{19B8F6BF-5375-455C-9EA6-DF929625EA0E}">
        <p15:presenceInfo xmlns:p15="http://schemas.microsoft.com/office/powerpoint/2012/main" userId="04edb8684ac0beb8" providerId="Windows Live"/>
      </p:ext>
    </p:extLst>
  </p:cmAuthor>
  <p:cmAuthor id="6" name="Matt Ockenfels" initials="MO" lastIdx="1" clrIdx="5">
    <p:extLst>
      <p:ext uri="{19B8F6BF-5375-455C-9EA6-DF929625EA0E}">
        <p15:presenceInfo xmlns:p15="http://schemas.microsoft.com/office/powerpoint/2012/main" userId="S::matto@skillup.tech::1f5f8b86-5465-4302-9a82-9a36d055e8b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2C3"/>
    <a:srgbClr val="007D79"/>
    <a:srgbClr val="D02670"/>
    <a:srgbClr val="231F20"/>
    <a:srgbClr val="33B1FF"/>
    <a:srgbClr val="262626"/>
    <a:srgbClr val="525252"/>
    <a:srgbClr val="BE95FF"/>
    <a:srgbClr val="FFFFFF"/>
    <a:srgbClr val="C1C7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37BA43-9A26-4353-93DC-98B6C4F602CB}" v="519" dt="2025-05-17T15:18:29.080"/>
    <p1510:client id="{EE90923D-9253-4DDB-BF89-7AF087E2BBD0}" v="1288" dt="2025-05-17T18:32:09.462"/>
  </p1510:revLst>
</p1510:revInfo>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13" autoAdjust="0"/>
    <p:restoredTop sz="91480" autoAdjust="0"/>
  </p:normalViewPr>
  <p:slideViewPr>
    <p:cSldViewPr snapToGrid="0">
      <p:cViewPr varScale="1">
        <p:scale>
          <a:sx n="70" d="100"/>
          <a:sy n="70" d="100"/>
        </p:scale>
        <p:origin x="38" y="101"/>
      </p:cViewPr>
      <p:guideLst>
        <p:guide orient="horz" pos="744"/>
        <p:guide pos="288"/>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3" Type="http://schemas.microsoft.com/office/2018/10/relationships/authors" Target="author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gs" Target="tags/tag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0,'6'0,"-4"6,-2 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5/17/2025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r>
              <a:rPr lang="en-US"/>
              <a:t> </a:t>
            </a: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13873" y="1168401"/>
            <a:ext cx="10964254" cy="2387600"/>
          </a:xfrm>
          <a:solidFill>
            <a:schemeClr val="bg2"/>
          </a:solidFill>
        </p:spPr>
        <p:txBody>
          <a:bodyPr anchor="b">
            <a:normAutofit/>
          </a:bodyPr>
          <a:lstStyle>
            <a:lvl1pPr algn="ctr">
              <a:defRPr sz="4800" b="0"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8273" y="3731247"/>
            <a:ext cx="9135454" cy="1655762"/>
          </a:xfrm>
        </p:spPr>
        <p:txBody>
          <a:bodyPr>
            <a:normAutofit/>
          </a:bodyPr>
          <a:lstStyle>
            <a:lvl1pPr marL="0" indent="0" algn="ctr">
              <a:buNone/>
              <a:defRPr sz="2400" b="0" i="0">
                <a:solidFill>
                  <a:srgbClr val="525252"/>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p:cNvCxnSpPr/>
          <p:nvPr/>
        </p:nvCxnSpPr>
        <p:spPr>
          <a:xfrm>
            <a:off x="2880360" y="3649111"/>
            <a:ext cx="6431280" cy="0"/>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
        <p:nvSpPr>
          <p:cNvPr id="9" name="Rectangle 8"/>
          <p:cNvSpPr>
            <a:spLocks noChangeArrowheads="1"/>
          </p:cNvSpPr>
          <p:nvPr/>
        </p:nvSpPr>
        <p:spPr bwMode="black">
          <a:xfrm>
            <a:off x="4093580" y="5537419"/>
            <a:ext cx="4004840" cy="304359"/>
          </a:xfrm>
          <a:prstGeom prst="rect">
            <a:avLst/>
          </a:prstGeom>
          <a:noFill/>
          <a:ln w="9525">
            <a:noFill/>
            <a:miter lim="800000"/>
            <a:headEnd/>
            <a:tailEnd/>
          </a:ln>
        </p:spPr>
        <p:txBody>
          <a:bodyPr lIns="92075" tIns="46038" rIns="92075" bIns="46038"/>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sz="1400" b="0">
                <a:solidFill>
                  <a:srgbClr val="000000"/>
                </a:solidFill>
                <a:latin typeface="Helv"/>
              </a:rPr>
              <a:t>© IBM Corporation. All rights reserved.</a:t>
            </a:r>
          </a:p>
        </p:txBody>
      </p:sp>
      <p:grpSp>
        <p:nvGrpSpPr>
          <p:cNvPr id="5" name="Group 4">
            <a:extLst>
              <a:ext uri="{FF2B5EF4-FFF2-40B4-BE49-F238E27FC236}">
                <a16:creationId xmlns:a16="http://schemas.microsoft.com/office/drawing/2014/main" id="{CB5BAB42-A6B6-D2DB-EC91-721CA287B900}"/>
              </a:ext>
            </a:extLst>
          </p:cNvPr>
          <p:cNvGrpSpPr/>
          <p:nvPr userDrawn="1"/>
        </p:nvGrpSpPr>
        <p:grpSpPr>
          <a:xfrm>
            <a:off x="11094856" y="6244940"/>
            <a:ext cx="1098532" cy="613059"/>
            <a:chOff x="8965342" y="4231217"/>
            <a:chExt cx="1608171" cy="897474"/>
          </a:xfrm>
        </p:grpSpPr>
        <p:pic>
          <p:nvPicPr>
            <p:cNvPr id="6" name="Graphic 5">
              <a:extLst>
                <a:ext uri="{FF2B5EF4-FFF2-40B4-BE49-F238E27FC236}">
                  <a16:creationId xmlns:a16="http://schemas.microsoft.com/office/drawing/2014/main" id="{D9DAF80D-4D83-4EA4-3B9A-B4DEAA21CF4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321121" y="4418033"/>
              <a:ext cx="897474" cy="355817"/>
            </a:xfrm>
            <a:prstGeom prst="rect">
              <a:avLst/>
            </a:prstGeom>
          </p:spPr>
        </p:pic>
        <p:pic>
          <p:nvPicPr>
            <p:cNvPr id="11" name="Graphic 10" hidden="1">
              <a:extLst>
                <a:ext uri="{FF2B5EF4-FFF2-40B4-BE49-F238E27FC236}">
                  <a16:creationId xmlns:a16="http://schemas.microsoft.com/office/drawing/2014/main" id="{AA1B3EED-0A38-9B4D-C031-B7CFB1F16CD2}"/>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9321121" y="4772874"/>
              <a:ext cx="897474" cy="355817"/>
            </a:xfrm>
            <a:prstGeom prst="rect">
              <a:avLst/>
            </a:prstGeom>
          </p:spPr>
        </p:pic>
        <p:pic>
          <p:nvPicPr>
            <p:cNvPr id="12" name="Graphic 11" hidden="1">
              <a:extLst>
                <a:ext uri="{FF2B5EF4-FFF2-40B4-BE49-F238E27FC236}">
                  <a16:creationId xmlns:a16="http://schemas.microsoft.com/office/drawing/2014/main" id="{D8BA40FF-052F-CEA2-8570-24062BFE0A7B}"/>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6200000">
              <a:off x="9946868" y="4502045"/>
              <a:ext cx="897474" cy="355817"/>
            </a:xfrm>
            <a:prstGeom prst="rect">
              <a:avLst/>
            </a:prstGeom>
          </p:spPr>
        </p:pic>
        <p:pic>
          <p:nvPicPr>
            <p:cNvPr id="13" name="Graphic 12" hidden="1">
              <a:extLst>
                <a:ext uri="{FF2B5EF4-FFF2-40B4-BE49-F238E27FC236}">
                  <a16:creationId xmlns:a16="http://schemas.microsoft.com/office/drawing/2014/main" id="{10305589-4F05-9658-71A7-2F6E7BFE9524}"/>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6200000">
              <a:off x="8694514" y="4502045"/>
              <a:ext cx="897474" cy="355817"/>
            </a:xfrm>
            <a:prstGeom prst="rect">
              <a:avLst/>
            </a:prstGeom>
          </p:spPr>
        </p:pic>
      </p:grpSp>
      <p:pic>
        <p:nvPicPr>
          <p:cNvPr id="14" name="Graphic 13">
            <a:extLst>
              <a:ext uri="{FF2B5EF4-FFF2-40B4-BE49-F238E27FC236}">
                <a16:creationId xmlns:a16="http://schemas.microsoft.com/office/drawing/2014/main" id="{EEFE9B80-1CD0-9614-4D99-C0FA5B74A8B1}"/>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41053" y="6372101"/>
            <a:ext cx="1630680" cy="247650"/>
          </a:xfrm>
          <a:prstGeom prst="rect">
            <a:avLst/>
          </a:prstGeom>
        </p:spPr>
      </p:pic>
    </p:spTree>
    <p:custDataLst>
      <p:tags r:id="rId1"/>
    </p:custDataLst>
    <p:extLst>
      <p:ext uri="{BB962C8B-B14F-4D97-AF65-F5344CB8AC3E}">
        <p14:creationId xmlns:p14="http://schemas.microsoft.com/office/powerpoint/2010/main" val="3736152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525252"/>
                </a:solidFill>
              </a:defRPr>
            </a:lvl1pPr>
          </a:lstStyle>
          <a:p>
            <a:r>
              <a:rPr lang="en-US"/>
              <a:t>Click to edit Master title style</a:t>
            </a:r>
            <a:endParaRPr lang="en-US" dirty="0"/>
          </a:p>
        </p:txBody>
      </p:sp>
      <p:sp>
        <p:nvSpPr>
          <p:cNvPr id="3" name="Content Placeholder 2"/>
          <p:cNvSpPr>
            <a:spLocks noGrp="1"/>
          </p:cNvSpPr>
          <p:nvPr>
            <p:ph idx="1"/>
          </p:nvPr>
        </p:nvSpPr>
        <p:spPr>
          <a:xfrm>
            <a:off x="838200" y="1600199"/>
            <a:ext cx="107442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262626"/>
                </a:solidFill>
              </a:defRPr>
            </a:lvl4pPr>
            <a:lvl5pPr>
              <a:defRPr>
                <a:solidFill>
                  <a:srgbClr val="262626"/>
                </a:solidFill>
              </a:defRPr>
            </a:lvl5pPr>
          </a:lstStyle>
          <a:p>
            <a:pPr lvl="0"/>
            <a:r>
              <a:rPr lang="en-US"/>
              <a:t>Click to edit Master text styles</a:t>
            </a:r>
          </a:p>
          <a:p>
            <a:pPr lvl="1"/>
            <a:r>
              <a:rPr lang="en-US"/>
              <a:t>Second level</a:t>
            </a:r>
          </a:p>
          <a:p>
            <a:pPr lvl="2"/>
            <a:r>
              <a:rPr lang="en-US"/>
              <a:t>Third level</a:t>
            </a:r>
          </a:p>
        </p:txBody>
      </p:sp>
      <p:cxnSp>
        <p:nvCxnSpPr>
          <p:cNvPr id="7" name="Straight Connector 6"/>
          <p:cNvCxnSpPr/>
          <p:nvPr/>
        </p:nvCxnSpPr>
        <p:spPr>
          <a:xfrm>
            <a:off x="838200" y="1296645"/>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4970299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solidFill>
                  <a:srgbClr val="525252"/>
                </a:solidFill>
                <a:latin typeface="IBM Plex Sans SemiBold" panose="020B0503050203000203"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838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72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cxnSp>
        <p:nvCxnSpPr>
          <p:cNvPr id="8" name="Straight Connector 7"/>
          <p:cNvCxnSpPr/>
          <p:nvPr/>
        </p:nvCxnSpPr>
        <p:spPr>
          <a:xfrm>
            <a:off x="838200" y="1364249"/>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871343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793464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p:spPr>
        <p:txBody>
          <a:bodyPr anchor="b">
            <a:normAutofit/>
          </a:bodyPr>
          <a:lstStyle>
            <a:lvl1pPr algn="ctr">
              <a:defRPr sz="4800" b="1"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p>
        </p:txBody>
      </p:sp>
    </p:spTree>
    <p:extLst>
      <p:ext uri="{BB962C8B-B14F-4D97-AF65-F5344CB8AC3E}">
        <p14:creationId xmlns:p14="http://schemas.microsoft.com/office/powerpoint/2010/main" val="1173270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2_Blank">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7246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13"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theme" Target="../theme/theme1.xml"/><Relationship Id="rId12" Type="http://schemas.openxmlformats.org/officeDocument/2006/relationships/image" Target="../media/image3.svg"/><Relationship Id="rId2" Type="http://schemas.openxmlformats.org/officeDocument/2006/relationships/slideLayout" Target="../slideLayouts/slideLayout2.xml"/><Relationship Id="rId16" Type="http://schemas.openxmlformats.org/officeDocument/2006/relationships/image" Target="../media/image7.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image" Target="../media/image6.png"/><Relationship Id="rId10"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image" Target="../media/image1.png"/><Relationship Id="rId14" Type="http://schemas.openxmlformats.org/officeDocument/2006/relationships/image" Target="../media/image5.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47850"/>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pic>
        <p:nvPicPr>
          <p:cNvPr id="12" name="Picture 11" descr="Text, logo&#10;&#10;Description automatically generated">
            <a:extLst>
              <a:ext uri="{FF2B5EF4-FFF2-40B4-BE49-F238E27FC236}">
                <a16:creationId xmlns:a16="http://schemas.microsoft.com/office/drawing/2014/main" id="{05161552-D656-B925-AB2F-4CA5F6FE7270}"/>
              </a:ext>
            </a:extLst>
          </p:cNvPr>
          <p:cNvPicPr>
            <a:picLocks noChangeAspect="1"/>
          </p:cNvPicPr>
          <p:nvPr userDrawn="1"/>
        </p:nvPicPr>
        <p:blipFill rotWithShape="1">
          <a:blip r:embed="rId9">
            <a:alphaModFix amt="5000"/>
            <a:extLst>
              <a:ext uri="{BEBA8EAE-BF5A-486C-A8C5-ECC9F3942E4B}">
                <a14:imgProps xmlns:a14="http://schemas.microsoft.com/office/drawing/2010/main">
                  <a14:imgLayer r:embed="rId10">
                    <a14:imgEffect>
                      <a14:saturation sat="155000"/>
                    </a14:imgEffect>
                    <a14:imgEffect>
                      <a14:brightnessContrast contrast="-77000"/>
                    </a14:imgEffect>
                  </a14:imgLayer>
                </a14:imgProps>
              </a:ext>
            </a:extLst>
          </a:blip>
          <a:srcRect l="-1923" r="70315"/>
          <a:stretch/>
        </p:blipFill>
        <p:spPr>
          <a:xfrm>
            <a:off x="3345127" y="1418811"/>
            <a:ext cx="5501746" cy="4826130"/>
          </a:xfrm>
          <a:prstGeom prst="rect">
            <a:avLst/>
          </a:prstGeom>
        </p:spPr>
      </p:pic>
      <p:sp>
        <p:nvSpPr>
          <p:cNvPr id="4" name="Rectangle 3">
            <a:extLst>
              <a:ext uri="{FF2B5EF4-FFF2-40B4-BE49-F238E27FC236}">
                <a16:creationId xmlns:a16="http://schemas.microsoft.com/office/drawing/2014/main" id="{AE377BDD-6725-68B2-639C-E47C9B4601F2}"/>
              </a:ext>
            </a:extLst>
          </p:cNvPr>
          <p:cNvSpPr/>
          <p:nvPr userDrawn="1"/>
        </p:nvSpPr>
        <p:spPr>
          <a:xfrm>
            <a:off x="12625444" y="2728308"/>
            <a:ext cx="1235879" cy="1235878"/>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#BE95FF</a:t>
            </a:r>
          </a:p>
        </p:txBody>
      </p:sp>
      <p:sp>
        <p:nvSpPr>
          <p:cNvPr id="5" name="Rectangle 4">
            <a:extLst>
              <a:ext uri="{FF2B5EF4-FFF2-40B4-BE49-F238E27FC236}">
                <a16:creationId xmlns:a16="http://schemas.microsoft.com/office/drawing/2014/main" id="{18771CE0-19C9-5FCF-1B71-ACF36DEE6664}"/>
              </a:ext>
            </a:extLst>
          </p:cNvPr>
          <p:cNvSpPr/>
          <p:nvPr userDrawn="1"/>
        </p:nvSpPr>
        <p:spPr>
          <a:xfrm>
            <a:off x="18071881" y="2728308"/>
            <a:ext cx="1235879" cy="1235878"/>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#33B1FF</a:t>
            </a:r>
          </a:p>
        </p:txBody>
      </p:sp>
      <p:sp>
        <p:nvSpPr>
          <p:cNvPr id="6" name="Rectangle 5">
            <a:extLst>
              <a:ext uri="{FF2B5EF4-FFF2-40B4-BE49-F238E27FC236}">
                <a16:creationId xmlns:a16="http://schemas.microsoft.com/office/drawing/2014/main" id="{832A3F44-3AAC-9557-E214-F323108F6B65}"/>
              </a:ext>
            </a:extLst>
          </p:cNvPr>
          <p:cNvSpPr/>
          <p:nvPr userDrawn="1"/>
        </p:nvSpPr>
        <p:spPr>
          <a:xfrm>
            <a:off x="14440923" y="2728308"/>
            <a:ext cx="1235879" cy="1235878"/>
          </a:xfrm>
          <a:prstGeom prst="rect">
            <a:avLst/>
          </a:prstGeom>
          <a:solidFill>
            <a:srgbClr val="FF7EB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#FF7EB6</a:t>
            </a:r>
          </a:p>
        </p:txBody>
      </p:sp>
      <p:sp>
        <p:nvSpPr>
          <p:cNvPr id="9" name="Rectangle 8">
            <a:extLst>
              <a:ext uri="{FF2B5EF4-FFF2-40B4-BE49-F238E27FC236}">
                <a16:creationId xmlns:a16="http://schemas.microsoft.com/office/drawing/2014/main" id="{06EA0613-E945-E437-C733-F9F008F63B76}"/>
              </a:ext>
            </a:extLst>
          </p:cNvPr>
          <p:cNvSpPr/>
          <p:nvPr userDrawn="1"/>
        </p:nvSpPr>
        <p:spPr>
          <a:xfrm>
            <a:off x="16256402" y="2728308"/>
            <a:ext cx="1235879" cy="1235878"/>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#08BDBA</a:t>
            </a:r>
          </a:p>
        </p:txBody>
      </p:sp>
      <p:sp>
        <p:nvSpPr>
          <p:cNvPr id="10" name="TextBox 9">
            <a:extLst>
              <a:ext uri="{FF2B5EF4-FFF2-40B4-BE49-F238E27FC236}">
                <a16:creationId xmlns:a16="http://schemas.microsoft.com/office/drawing/2014/main" id="{F0EC5687-C25A-A73E-5192-674F560F89FA}"/>
              </a:ext>
            </a:extLst>
          </p:cNvPr>
          <p:cNvSpPr txBox="1"/>
          <p:nvPr userDrawn="1"/>
        </p:nvSpPr>
        <p:spPr>
          <a:xfrm>
            <a:off x="12602453" y="3912427"/>
            <a:ext cx="1237839" cy="369332"/>
          </a:xfrm>
          <a:prstGeom prst="rect">
            <a:avLst/>
          </a:prstGeom>
          <a:noFill/>
        </p:spPr>
        <p:txBody>
          <a:bodyPr wrap="none" rtlCol="0">
            <a:spAutoFit/>
          </a:bodyPr>
          <a:lstStyle/>
          <a:p>
            <a:r>
              <a:rPr lang="en-US" b="1" i="0" dirty="0">
                <a:solidFill>
                  <a:srgbClr val="FFFFFF"/>
                </a:solidFill>
                <a:effectLst/>
              </a:rPr>
              <a:t>Purple 40</a:t>
            </a:r>
            <a:endParaRPr lang="en-US" b="1" dirty="0">
              <a:solidFill>
                <a:srgbClr val="FFFFFF"/>
              </a:solidFill>
            </a:endParaRPr>
          </a:p>
        </p:txBody>
      </p:sp>
      <p:sp>
        <p:nvSpPr>
          <p:cNvPr id="13" name="TextBox 12">
            <a:extLst>
              <a:ext uri="{FF2B5EF4-FFF2-40B4-BE49-F238E27FC236}">
                <a16:creationId xmlns:a16="http://schemas.microsoft.com/office/drawing/2014/main" id="{C31F4021-33FE-506B-3C0D-688FEF669647}"/>
              </a:ext>
            </a:extLst>
          </p:cNvPr>
          <p:cNvSpPr txBox="1"/>
          <p:nvPr userDrawn="1"/>
        </p:nvSpPr>
        <p:spPr>
          <a:xfrm>
            <a:off x="14334144" y="3912427"/>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40</a:t>
            </a:r>
            <a:endParaRPr lang="en-US" b="1" dirty="0">
              <a:solidFill>
                <a:srgbClr val="FFFFFF"/>
              </a:solidFill>
            </a:endParaRPr>
          </a:p>
        </p:txBody>
      </p:sp>
      <p:sp>
        <p:nvSpPr>
          <p:cNvPr id="14" name="TextBox 13">
            <a:extLst>
              <a:ext uri="{FF2B5EF4-FFF2-40B4-BE49-F238E27FC236}">
                <a16:creationId xmlns:a16="http://schemas.microsoft.com/office/drawing/2014/main" id="{586B112C-C780-5B47-83AA-D580E668C866}"/>
              </a:ext>
            </a:extLst>
          </p:cNvPr>
          <p:cNvSpPr txBox="1"/>
          <p:nvPr userDrawn="1"/>
        </p:nvSpPr>
        <p:spPr>
          <a:xfrm>
            <a:off x="16404771" y="3912427"/>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40</a:t>
            </a:r>
            <a:endParaRPr lang="en-US" b="1" dirty="0">
              <a:solidFill>
                <a:srgbClr val="FFFFFF"/>
              </a:solidFill>
            </a:endParaRPr>
          </a:p>
        </p:txBody>
      </p:sp>
      <p:sp>
        <p:nvSpPr>
          <p:cNvPr id="15" name="TextBox 14">
            <a:extLst>
              <a:ext uri="{FF2B5EF4-FFF2-40B4-BE49-F238E27FC236}">
                <a16:creationId xmlns:a16="http://schemas.microsoft.com/office/drawing/2014/main" id="{D92FC597-9201-21C6-383D-67750826F14D}"/>
              </a:ext>
            </a:extLst>
          </p:cNvPr>
          <p:cNvSpPr txBox="1"/>
          <p:nvPr userDrawn="1"/>
        </p:nvSpPr>
        <p:spPr>
          <a:xfrm>
            <a:off x="18206642" y="3912427"/>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40</a:t>
            </a:r>
            <a:endParaRPr lang="en-US" b="1" dirty="0">
              <a:solidFill>
                <a:srgbClr val="FFFFFF"/>
              </a:solidFill>
            </a:endParaRPr>
          </a:p>
        </p:txBody>
      </p:sp>
      <p:sp>
        <p:nvSpPr>
          <p:cNvPr id="16" name="Rectangle 15">
            <a:extLst>
              <a:ext uri="{FF2B5EF4-FFF2-40B4-BE49-F238E27FC236}">
                <a16:creationId xmlns:a16="http://schemas.microsoft.com/office/drawing/2014/main" id="{6B4A6D56-917B-72D3-81F7-A59A36FC4198}"/>
              </a:ext>
            </a:extLst>
          </p:cNvPr>
          <p:cNvSpPr/>
          <p:nvPr userDrawn="1"/>
        </p:nvSpPr>
        <p:spPr>
          <a:xfrm>
            <a:off x="12625444" y="4418033"/>
            <a:ext cx="1235879" cy="1235878"/>
          </a:xfrm>
          <a:prstGeom prst="rect">
            <a:avLst/>
          </a:prstGeom>
          <a:solidFill>
            <a:srgbClr val="8A3FFC"/>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#8A3FFC</a:t>
            </a:r>
          </a:p>
        </p:txBody>
      </p:sp>
      <p:sp>
        <p:nvSpPr>
          <p:cNvPr id="17" name="Rectangle 16">
            <a:extLst>
              <a:ext uri="{FF2B5EF4-FFF2-40B4-BE49-F238E27FC236}">
                <a16:creationId xmlns:a16="http://schemas.microsoft.com/office/drawing/2014/main" id="{49512372-0859-45E3-8DD7-AE730B4AFD19}"/>
              </a:ext>
            </a:extLst>
          </p:cNvPr>
          <p:cNvSpPr/>
          <p:nvPr userDrawn="1"/>
        </p:nvSpPr>
        <p:spPr>
          <a:xfrm>
            <a:off x="18071881" y="4418033"/>
            <a:ext cx="1235879" cy="1235878"/>
          </a:xfrm>
          <a:prstGeom prst="rect">
            <a:avLst/>
          </a:prstGeom>
          <a:solidFill>
            <a:srgbClr val="0072C3"/>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#0072C3</a:t>
            </a:r>
          </a:p>
        </p:txBody>
      </p:sp>
      <p:sp>
        <p:nvSpPr>
          <p:cNvPr id="18" name="Rectangle 17">
            <a:extLst>
              <a:ext uri="{FF2B5EF4-FFF2-40B4-BE49-F238E27FC236}">
                <a16:creationId xmlns:a16="http://schemas.microsoft.com/office/drawing/2014/main" id="{A4197D57-5F46-DB39-F81D-9205CC53189F}"/>
              </a:ext>
            </a:extLst>
          </p:cNvPr>
          <p:cNvSpPr/>
          <p:nvPr userDrawn="1"/>
        </p:nvSpPr>
        <p:spPr>
          <a:xfrm>
            <a:off x="14440923" y="4418033"/>
            <a:ext cx="1235879" cy="1235878"/>
          </a:xfrm>
          <a:prstGeom prst="rect">
            <a:avLst/>
          </a:prstGeom>
          <a:solidFill>
            <a:srgbClr val="D02670"/>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#D02670</a:t>
            </a:r>
          </a:p>
        </p:txBody>
      </p:sp>
      <p:sp>
        <p:nvSpPr>
          <p:cNvPr id="19" name="Rectangle 18">
            <a:extLst>
              <a:ext uri="{FF2B5EF4-FFF2-40B4-BE49-F238E27FC236}">
                <a16:creationId xmlns:a16="http://schemas.microsoft.com/office/drawing/2014/main" id="{570AA9B1-D6E7-98E2-49EF-C98B6F0E7E2F}"/>
              </a:ext>
            </a:extLst>
          </p:cNvPr>
          <p:cNvSpPr/>
          <p:nvPr userDrawn="1"/>
        </p:nvSpPr>
        <p:spPr>
          <a:xfrm>
            <a:off x="16256402" y="4418033"/>
            <a:ext cx="1235879" cy="1235878"/>
          </a:xfrm>
          <a:prstGeom prst="rect">
            <a:avLst/>
          </a:prstGeom>
          <a:solidFill>
            <a:srgbClr val="007D7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#007D79</a:t>
            </a:r>
          </a:p>
        </p:txBody>
      </p:sp>
      <p:sp>
        <p:nvSpPr>
          <p:cNvPr id="20" name="TextBox 19">
            <a:extLst>
              <a:ext uri="{FF2B5EF4-FFF2-40B4-BE49-F238E27FC236}">
                <a16:creationId xmlns:a16="http://schemas.microsoft.com/office/drawing/2014/main" id="{B0A9DFA7-88D2-04F7-451C-7A2C388B178F}"/>
              </a:ext>
            </a:extLst>
          </p:cNvPr>
          <p:cNvSpPr txBox="1"/>
          <p:nvPr userDrawn="1"/>
        </p:nvSpPr>
        <p:spPr>
          <a:xfrm>
            <a:off x="12602453" y="5602152"/>
            <a:ext cx="1237839" cy="369332"/>
          </a:xfrm>
          <a:prstGeom prst="rect">
            <a:avLst/>
          </a:prstGeom>
          <a:noFill/>
        </p:spPr>
        <p:txBody>
          <a:bodyPr wrap="none" rtlCol="0">
            <a:spAutoFit/>
          </a:bodyPr>
          <a:lstStyle/>
          <a:p>
            <a:r>
              <a:rPr lang="en-US" b="1" i="0" dirty="0">
                <a:solidFill>
                  <a:srgbClr val="FFFFFF"/>
                </a:solidFill>
                <a:effectLst/>
              </a:rPr>
              <a:t>Purple 60</a:t>
            </a:r>
            <a:endParaRPr lang="en-US" b="1" dirty="0">
              <a:solidFill>
                <a:srgbClr val="FFFFFF"/>
              </a:solidFill>
            </a:endParaRPr>
          </a:p>
        </p:txBody>
      </p:sp>
      <p:sp>
        <p:nvSpPr>
          <p:cNvPr id="21" name="TextBox 20">
            <a:extLst>
              <a:ext uri="{FF2B5EF4-FFF2-40B4-BE49-F238E27FC236}">
                <a16:creationId xmlns:a16="http://schemas.microsoft.com/office/drawing/2014/main" id="{92C98F8E-1DCD-3647-3613-DFFC7CDFF372}"/>
              </a:ext>
            </a:extLst>
          </p:cNvPr>
          <p:cNvSpPr txBox="1"/>
          <p:nvPr userDrawn="1"/>
        </p:nvSpPr>
        <p:spPr>
          <a:xfrm>
            <a:off x="14334144" y="5602152"/>
            <a:ext cx="1448025"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60</a:t>
            </a:r>
            <a:endParaRPr lang="en-US" b="1" dirty="0">
              <a:solidFill>
                <a:srgbClr val="FFFFFF"/>
              </a:solidFill>
            </a:endParaRPr>
          </a:p>
        </p:txBody>
      </p:sp>
      <p:sp>
        <p:nvSpPr>
          <p:cNvPr id="22" name="TextBox 21">
            <a:extLst>
              <a:ext uri="{FF2B5EF4-FFF2-40B4-BE49-F238E27FC236}">
                <a16:creationId xmlns:a16="http://schemas.microsoft.com/office/drawing/2014/main" id="{129F1073-373D-249D-C1F2-A527EB0210C9}"/>
              </a:ext>
            </a:extLst>
          </p:cNvPr>
          <p:cNvSpPr txBox="1"/>
          <p:nvPr userDrawn="1"/>
        </p:nvSpPr>
        <p:spPr>
          <a:xfrm>
            <a:off x="16404771" y="5602152"/>
            <a:ext cx="966931"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60</a:t>
            </a:r>
            <a:endParaRPr lang="en-US" b="1" dirty="0">
              <a:solidFill>
                <a:srgbClr val="FFFFFF"/>
              </a:solidFill>
            </a:endParaRPr>
          </a:p>
        </p:txBody>
      </p:sp>
      <p:sp>
        <p:nvSpPr>
          <p:cNvPr id="23" name="TextBox 22">
            <a:extLst>
              <a:ext uri="{FF2B5EF4-FFF2-40B4-BE49-F238E27FC236}">
                <a16:creationId xmlns:a16="http://schemas.microsoft.com/office/drawing/2014/main" id="{0D12B31A-8903-A616-B756-B8695FC8F38A}"/>
              </a:ext>
            </a:extLst>
          </p:cNvPr>
          <p:cNvSpPr txBox="1"/>
          <p:nvPr userDrawn="1"/>
        </p:nvSpPr>
        <p:spPr>
          <a:xfrm>
            <a:off x="18206642" y="5602152"/>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60</a:t>
            </a:r>
            <a:endParaRPr lang="en-US" b="1" dirty="0">
              <a:solidFill>
                <a:srgbClr val="FFFFFF"/>
              </a:solidFill>
            </a:endParaRPr>
          </a:p>
        </p:txBody>
      </p:sp>
      <p:sp>
        <p:nvSpPr>
          <p:cNvPr id="24" name="Rectangle 23">
            <a:extLst>
              <a:ext uri="{FF2B5EF4-FFF2-40B4-BE49-F238E27FC236}">
                <a16:creationId xmlns:a16="http://schemas.microsoft.com/office/drawing/2014/main" id="{61892CDF-E500-AD18-C0DB-5405AF35ADE4}"/>
              </a:ext>
            </a:extLst>
          </p:cNvPr>
          <p:cNvSpPr/>
          <p:nvPr userDrawn="1"/>
        </p:nvSpPr>
        <p:spPr>
          <a:xfrm>
            <a:off x="19512379" y="2712316"/>
            <a:ext cx="1267863" cy="1267862"/>
          </a:xfrm>
          <a:prstGeom prst="rect">
            <a:avLst/>
          </a:prstGeom>
          <a:solidFill>
            <a:srgbClr val="12161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Icon</a:t>
            </a:r>
          </a:p>
          <a:p>
            <a:pPr algn="ctr"/>
            <a:r>
              <a:rPr lang="en-US" dirty="0">
                <a:solidFill>
                  <a:schemeClr val="bg2"/>
                </a:solidFill>
                <a:latin typeface="IBM Plex Sans" panose="020B0503050203000203" pitchFamily="34" charset="0"/>
              </a:rPr>
              <a:t>#</a:t>
            </a:r>
            <a:r>
              <a:rPr lang="en-US" b="0" i="0" dirty="0">
                <a:solidFill>
                  <a:srgbClr val="FFFFFF"/>
                </a:solidFill>
                <a:effectLst/>
                <a:latin typeface="IBM Plex Mono" panose="020B0509050203000203" pitchFamily="49" charset="0"/>
              </a:rPr>
              <a:t>000000</a:t>
            </a:r>
            <a:endParaRPr lang="en-US" dirty="0">
              <a:solidFill>
                <a:schemeClr val="bg2"/>
              </a:solidFill>
              <a:latin typeface="IBM Plex Sans" panose="020B0503050203000203" pitchFamily="34" charset="0"/>
            </a:endParaRPr>
          </a:p>
        </p:txBody>
      </p:sp>
      <p:sp>
        <p:nvSpPr>
          <p:cNvPr id="25" name="Rectangle 24">
            <a:extLst>
              <a:ext uri="{FF2B5EF4-FFF2-40B4-BE49-F238E27FC236}">
                <a16:creationId xmlns:a16="http://schemas.microsoft.com/office/drawing/2014/main" id="{FACF072D-B1FC-4829-B71E-556F57965D46}"/>
              </a:ext>
            </a:extLst>
          </p:cNvPr>
          <p:cNvSpPr/>
          <p:nvPr userDrawn="1"/>
        </p:nvSpPr>
        <p:spPr>
          <a:xfrm>
            <a:off x="19510690" y="4403963"/>
            <a:ext cx="1264019" cy="1264018"/>
          </a:xfrm>
          <a:prstGeom prst="rect">
            <a:avLst/>
          </a:prstGeom>
          <a:solidFill>
            <a:srgbClr val="FFFF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rgbClr val="262626"/>
                </a:solidFill>
                <a:latin typeface="IBM Plex Sans" panose="020B0503050203000203" pitchFamily="34" charset="0"/>
              </a:rPr>
              <a:t>Icon</a:t>
            </a:r>
          </a:p>
          <a:p>
            <a:pPr algn="ctr"/>
            <a:r>
              <a:rPr lang="en-US" dirty="0">
                <a:solidFill>
                  <a:srgbClr val="262626"/>
                </a:solidFill>
                <a:latin typeface="IBM Plex Sans" panose="020B0503050203000203" pitchFamily="34" charset="0"/>
              </a:rPr>
              <a:t>#</a:t>
            </a:r>
            <a:r>
              <a:rPr lang="en-US" b="0" i="0" dirty="0">
                <a:solidFill>
                  <a:srgbClr val="262626"/>
                </a:solidFill>
                <a:effectLst/>
                <a:latin typeface="IBM Plex Mono" panose="020B0509050203000203" pitchFamily="49" charset="0"/>
              </a:rPr>
              <a:t>FFFFFF</a:t>
            </a:r>
            <a:endParaRPr lang="en-US" dirty="0">
              <a:solidFill>
                <a:srgbClr val="262626"/>
              </a:solidFill>
              <a:latin typeface="IBM Plex Sans" panose="020B0503050203000203" pitchFamily="34" charset="0"/>
            </a:endParaRPr>
          </a:p>
        </p:txBody>
      </p:sp>
      <p:sp>
        <p:nvSpPr>
          <p:cNvPr id="26" name="Rectangle 25">
            <a:extLst>
              <a:ext uri="{FF2B5EF4-FFF2-40B4-BE49-F238E27FC236}">
                <a16:creationId xmlns:a16="http://schemas.microsoft.com/office/drawing/2014/main" id="{398BBA60-CCFF-F95A-ECC9-46204EA2214B}"/>
              </a:ext>
            </a:extLst>
          </p:cNvPr>
          <p:cNvSpPr/>
          <p:nvPr userDrawn="1"/>
        </p:nvSpPr>
        <p:spPr>
          <a:xfrm>
            <a:off x="12625444" y="1072749"/>
            <a:ext cx="1235879" cy="1235878"/>
          </a:xfrm>
          <a:prstGeom prst="rect">
            <a:avLst/>
          </a:prstGeom>
          <a:solidFill>
            <a:srgbClr val="F6F2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#F6F2FF</a:t>
            </a:r>
          </a:p>
        </p:txBody>
      </p:sp>
      <p:sp>
        <p:nvSpPr>
          <p:cNvPr id="27" name="Rectangle 26">
            <a:extLst>
              <a:ext uri="{FF2B5EF4-FFF2-40B4-BE49-F238E27FC236}">
                <a16:creationId xmlns:a16="http://schemas.microsoft.com/office/drawing/2014/main" id="{63F05CFF-A449-FBB3-5F13-F7A72C2E43DE}"/>
              </a:ext>
            </a:extLst>
          </p:cNvPr>
          <p:cNvSpPr/>
          <p:nvPr userDrawn="1"/>
        </p:nvSpPr>
        <p:spPr>
          <a:xfrm>
            <a:off x="18071881" y="1072749"/>
            <a:ext cx="1235879" cy="1235878"/>
          </a:xfrm>
          <a:prstGeom prst="rect">
            <a:avLst/>
          </a:prstGeom>
          <a:solidFill>
            <a:srgbClr val="E5F6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#E5F6FF</a:t>
            </a:r>
          </a:p>
        </p:txBody>
      </p:sp>
      <p:sp>
        <p:nvSpPr>
          <p:cNvPr id="28" name="Rectangle 27">
            <a:extLst>
              <a:ext uri="{FF2B5EF4-FFF2-40B4-BE49-F238E27FC236}">
                <a16:creationId xmlns:a16="http://schemas.microsoft.com/office/drawing/2014/main" id="{A4895BC4-B52A-2D00-62C1-71A44604BBB4}"/>
              </a:ext>
            </a:extLst>
          </p:cNvPr>
          <p:cNvSpPr/>
          <p:nvPr userDrawn="1"/>
        </p:nvSpPr>
        <p:spPr>
          <a:xfrm>
            <a:off x="14440923" y="1072749"/>
            <a:ext cx="1235879" cy="1235878"/>
          </a:xfrm>
          <a:prstGeom prst="rect">
            <a:avLst/>
          </a:prstGeom>
          <a:solidFill>
            <a:srgbClr val="FFF0F7"/>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#FFF0F7</a:t>
            </a:r>
          </a:p>
        </p:txBody>
      </p:sp>
      <p:sp>
        <p:nvSpPr>
          <p:cNvPr id="29" name="Rectangle 28">
            <a:extLst>
              <a:ext uri="{FF2B5EF4-FFF2-40B4-BE49-F238E27FC236}">
                <a16:creationId xmlns:a16="http://schemas.microsoft.com/office/drawing/2014/main" id="{F5B5B6C5-97CB-45FD-FDEC-1F5C2A0BDC3E}"/>
              </a:ext>
            </a:extLst>
          </p:cNvPr>
          <p:cNvSpPr/>
          <p:nvPr userDrawn="1"/>
        </p:nvSpPr>
        <p:spPr>
          <a:xfrm>
            <a:off x="16256402" y="1072749"/>
            <a:ext cx="1235879" cy="1235878"/>
          </a:xfrm>
          <a:prstGeom prst="rect">
            <a:avLst/>
          </a:prstGeom>
          <a:solidFill>
            <a:srgbClr val="D9FBFB"/>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#D9FBFB</a:t>
            </a:r>
          </a:p>
        </p:txBody>
      </p:sp>
      <p:sp>
        <p:nvSpPr>
          <p:cNvPr id="30" name="TextBox 29">
            <a:extLst>
              <a:ext uri="{FF2B5EF4-FFF2-40B4-BE49-F238E27FC236}">
                <a16:creationId xmlns:a16="http://schemas.microsoft.com/office/drawing/2014/main" id="{94DCC439-D448-E0FC-26EF-94C7A8B8D0DB}"/>
              </a:ext>
            </a:extLst>
          </p:cNvPr>
          <p:cNvSpPr txBox="1"/>
          <p:nvPr userDrawn="1"/>
        </p:nvSpPr>
        <p:spPr>
          <a:xfrm>
            <a:off x="12602453" y="2256868"/>
            <a:ext cx="1237839" cy="369332"/>
          </a:xfrm>
          <a:prstGeom prst="rect">
            <a:avLst/>
          </a:prstGeom>
          <a:noFill/>
        </p:spPr>
        <p:txBody>
          <a:bodyPr wrap="none" rtlCol="0">
            <a:spAutoFit/>
          </a:bodyPr>
          <a:lstStyle/>
          <a:p>
            <a:r>
              <a:rPr lang="en-US" b="1" i="0" dirty="0">
                <a:solidFill>
                  <a:srgbClr val="FFFFFF"/>
                </a:solidFill>
                <a:effectLst/>
              </a:rPr>
              <a:t>Purple 10</a:t>
            </a:r>
            <a:endParaRPr lang="en-US" b="1" dirty="0">
              <a:solidFill>
                <a:srgbClr val="FFFFFF"/>
              </a:solidFill>
            </a:endParaRPr>
          </a:p>
        </p:txBody>
      </p:sp>
      <p:sp>
        <p:nvSpPr>
          <p:cNvPr id="31" name="TextBox 30">
            <a:extLst>
              <a:ext uri="{FF2B5EF4-FFF2-40B4-BE49-F238E27FC236}">
                <a16:creationId xmlns:a16="http://schemas.microsoft.com/office/drawing/2014/main" id="{004B7B48-2E66-50BA-96FE-D24C4E60BFD7}"/>
              </a:ext>
            </a:extLst>
          </p:cNvPr>
          <p:cNvSpPr txBox="1"/>
          <p:nvPr userDrawn="1"/>
        </p:nvSpPr>
        <p:spPr>
          <a:xfrm>
            <a:off x="14334144" y="2256868"/>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10</a:t>
            </a:r>
            <a:endParaRPr lang="en-US" b="1" dirty="0">
              <a:solidFill>
                <a:srgbClr val="FFFFFF"/>
              </a:solidFill>
            </a:endParaRPr>
          </a:p>
        </p:txBody>
      </p:sp>
      <p:sp>
        <p:nvSpPr>
          <p:cNvPr id="32" name="TextBox 31">
            <a:extLst>
              <a:ext uri="{FF2B5EF4-FFF2-40B4-BE49-F238E27FC236}">
                <a16:creationId xmlns:a16="http://schemas.microsoft.com/office/drawing/2014/main" id="{07C767BF-EB72-86A2-DBA6-0D26C6C02894}"/>
              </a:ext>
            </a:extLst>
          </p:cNvPr>
          <p:cNvSpPr txBox="1"/>
          <p:nvPr userDrawn="1"/>
        </p:nvSpPr>
        <p:spPr>
          <a:xfrm>
            <a:off x="16404771" y="2256868"/>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10</a:t>
            </a:r>
            <a:endParaRPr lang="en-US" b="1" dirty="0">
              <a:solidFill>
                <a:srgbClr val="FFFFFF"/>
              </a:solidFill>
            </a:endParaRPr>
          </a:p>
        </p:txBody>
      </p:sp>
      <p:sp>
        <p:nvSpPr>
          <p:cNvPr id="33" name="TextBox 32">
            <a:extLst>
              <a:ext uri="{FF2B5EF4-FFF2-40B4-BE49-F238E27FC236}">
                <a16:creationId xmlns:a16="http://schemas.microsoft.com/office/drawing/2014/main" id="{BFEDF829-6CB0-F03B-E025-85D510B4DC26}"/>
              </a:ext>
            </a:extLst>
          </p:cNvPr>
          <p:cNvSpPr txBox="1"/>
          <p:nvPr userDrawn="1"/>
        </p:nvSpPr>
        <p:spPr>
          <a:xfrm>
            <a:off x="18206642" y="2256868"/>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10</a:t>
            </a:r>
            <a:endParaRPr lang="en-US" b="1" dirty="0">
              <a:solidFill>
                <a:srgbClr val="FFFFFF"/>
              </a:solidFill>
            </a:endParaRPr>
          </a:p>
        </p:txBody>
      </p:sp>
      <p:sp>
        <p:nvSpPr>
          <p:cNvPr id="34" name="Rectangle 33">
            <a:extLst>
              <a:ext uri="{FF2B5EF4-FFF2-40B4-BE49-F238E27FC236}">
                <a16:creationId xmlns:a16="http://schemas.microsoft.com/office/drawing/2014/main" id="{7FF97BF5-A64D-02F2-4B04-BC95CE39DF3F}"/>
              </a:ext>
            </a:extLst>
          </p:cNvPr>
          <p:cNvSpPr/>
          <p:nvPr userDrawn="1"/>
        </p:nvSpPr>
        <p:spPr>
          <a:xfrm>
            <a:off x="16222135" y="-2341897"/>
            <a:ext cx="1267863" cy="1267862"/>
          </a:xfrm>
          <a:prstGeom prst="rect">
            <a:avLst/>
          </a:prstGeom>
          <a:solidFill>
            <a:srgbClr val="C1C7CD"/>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#C1C7CD</a:t>
            </a:r>
          </a:p>
        </p:txBody>
      </p:sp>
      <p:sp>
        <p:nvSpPr>
          <p:cNvPr id="37" name="Rectangle 36">
            <a:extLst>
              <a:ext uri="{FF2B5EF4-FFF2-40B4-BE49-F238E27FC236}">
                <a16:creationId xmlns:a16="http://schemas.microsoft.com/office/drawing/2014/main" id="{63738F9B-27C5-3C49-8FD7-0731EE9AC3BF}"/>
              </a:ext>
            </a:extLst>
          </p:cNvPr>
          <p:cNvSpPr/>
          <p:nvPr userDrawn="1"/>
        </p:nvSpPr>
        <p:spPr>
          <a:xfrm>
            <a:off x="16222135" y="-801901"/>
            <a:ext cx="1267863" cy="1267862"/>
          </a:xfrm>
          <a:prstGeom prst="rect">
            <a:avLst/>
          </a:prstGeom>
          <a:solidFill>
            <a:srgbClr val="F2F4F8"/>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#F2F4F8</a:t>
            </a:r>
          </a:p>
        </p:txBody>
      </p:sp>
      <p:sp>
        <p:nvSpPr>
          <p:cNvPr id="38" name="Rectangle 37">
            <a:extLst>
              <a:ext uri="{FF2B5EF4-FFF2-40B4-BE49-F238E27FC236}">
                <a16:creationId xmlns:a16="http://schemas.microsoft.com/office/drawing/2014/main" id="{A7194F16-D83C-3057-9151-A884EA8F0931}"/>
              </a:ext>
            </a:extLst>
          </p:cNvPr>
          <p:cNvSpPr/>
          <p:nvPr userDrawn="1"/>
        </p:nvSpPr>
        <p:spPr>
          <a:xfrm>
            <a:off x="14397282" y="-2352139"/>
            <a:ext cx="1267863" cy="1267862"/>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#BE95FF</a:t>
            </a:r>
          </a:p>
        </p:txBody>
      </p:sp>
      <p:sp>
        <p:nvSpPr>
          <p:cNvPr id="39" name="Rectangle 38">
            <a:extLst>
              <a:ext uri="{FF2B5EF4-FFF2-40B4-BE49-F238E27FC236}">
                <a16:creationId xmlns:a16="http://schemas.microsoft.com/office/drawing/2014/main" id="{80C7A661-0FF9-B849-2771-84AA24CF5EFF}"/>
              </a:ext>
            </a:extLst>
          </p:cNvPr>
          <p:cNvSpPr/>
          <p:nvPr userDrawn="1"/>
        </p:nvSpPr>
        <p:spPr>
          <a:xfrm>
            <a:off x="14397282" y="-812143"/>
            <a:ext cx="1267863" cy="1267862"/>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#33B1FF</a:t>
            </a:r>
          </a:p>
        </p:txBody>
      </p:sp>
      <p:sp>
        <p:nvSpPr>
          <p:cNvPr id="42" name="Rectangle 41">
            <a:extLst>
              <a:ext uri="{FF2B5EF4-FFF2-40B4-BE49-F238E27FC236}">
                <a16:creationId xmlns:a16="http://schemas.microsoft.com/office/drawing/2014/main" id="{784675A9-3F9A-460D-D8D6-C5D9516859D4}"/>
              </a:ext>
            </a:extLst>
          </p:cNvPr>
          <p:cNvSpPr/>
          <p:nvPr userDrawn="1"/>
        </p:nvSpPr>
        <p:spPr>
          <a:xfrm>
            <a:off x="12572429" y="-2309174"/>
            <a:ext cx="1267863" cy="1267862"/>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#08BDBA</a:t>
            </a:r>
          </a:p>
        </p:txBody>
      </p:sp>
      <p:sp>
        <p:nvSpPr>
          <p:cNvPr id="43" name="Rectangle 42">
            <a:extLst>
              <a:ext uri="{FF2B5EF4-FFF2-40B4-BE49-F238E27FC236}">
                <a16:creationId xmlns:a16="http://schemas.microsoft.com/office/drawing/2014/main" id="{FD8C7787-7D0E-ED5D-DB99-53C4B52AA8F2}"/>
              </a:ext>
            </a:extLst>
          </p:cNvPr>
          <p:cNvSpPr/>
          <p:nvPr userDrawn="1"/>
        </p:nvSpPr>
        <p:spPr>
          <a:xfrm>
            <a:off x="12572429" y="-769178"/>
            <a:ext cx="1267863" cy="1267862"/>
          </a:xfrm>
          <a:prstGeom prst="rect">
            <a:avLst/>
          </a:prstGeom>
          <a:solidFill>
            <a:srgbClr val="78A9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#78A9FF</a:t>
            </a:r>
          </a:p>
        </p:txBody>
      </p:sp>
      <p:sp>
        <p:nvSpPr>
          <p:cNvPr id="46" name="Rectangle 45">
            <a:extLst>
              <a:ext uri="{FF2B5EF4-FFF2-40B4-BE49-F238E27FC236}">
                <a16:creationId xmlns:a16="http://schemas.microsoft.com/office/drawing/2014/main" id="{20CCBF62-5F94-E366-51BD-6C8DCBF90955}"/>
              </a:ext>
            </a:extLst>
          </p:cNvPr>
          <p:cNvSpPr/>
          <p:nvPr userDrawn="1"/>
        </p:nvSpPr>
        <p:spPr>
          <a:xfrm>
            <a:off x="17993876" y="-2309174"/>
            <a:ext cx="1267863" cy="1267862"/>
          </a:xfrm>
          <a:prstGeom prst="rect">
            <a:avLst/>
          </a:prstGeom>
          <a:solidFill>
            <a:srgbClr val="52525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Labels</a:t>
            </a:r>
          </a:p>
          <a:p>
            <a:pPr algn="ctr"/>
            <a:r>
              <a:rPr lang="en-US" dirty="0">
                <a:solidFill>
                  <a:schemeClr val="bg2"/>
                </a:solidFill>
                <a:latin typeface="IBM Plex Sans" panose="020B0503050203000203" pitchFamily="34" charset="0"/>
              </a:rPr>
              <a:t>#525252</a:t>
            </a:r>
          </a:p>
        </p:txBody>
      </p:sp>
      <p:sp>
        <p:nvSpPr>
          <p:cNvPr id="47" name="Rectangle 46">
            <a:extLst>
              <a:ext uri="{FF2B5EF4-FFF2-40B4-BE49-F238E27FC236}">
                <a16:creationId xmlns:a16="http://schemas.microsoft.com/office/drawing/2014/main" id="{E5880850-0EBA-AD14-E6FD-BB1DC94F3DA5}"/>
              </a:ext>
            </a:extLst>
          </p:cNvPr>
          <p:cNvSpPr/>
          <p:nvPr userDrawn="1"/>
        </p:nvSpPr>
        <p:spPr>
          <a:xfrm>
            <a:off x="17993875" y="-812143"/>
            <a:ext cx="1267863" cy="1267862"/>
          </a:xfrm>
          <a:prstGeom prst="rect">
            <a:avLst/>
          </a:prstGeom>
          <a:solidFill>
            <a:srgbClr val="26262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Text</a:t>
            </a:r>
          </a:p>
          <a:p>
            <a:pPr algn="ctr"/>
            <a:r>
              <a:rPr lang="en-US" dirty="0">
                <a:solidFill>
                  <a:schemeClr val="bg2"/>
                </a:solidFill>
                <a:latin typeface="IBM Plex Sans" panose="020B0503050203000203" pitchFamily="34" charset="0"/>
              </a:rPr>
              <a:t>#262626</a:t>
            </a:r>
          </a:p>
        </p:txBody>
      </p:sp>
      <p:grpSp>
        <p:nvGrpSpPr>
          <p:cNvPr id="64" name="Group 63">
            <a:extLst>
              <a:ext uri="{FF2B5EF4-FFF2-40B4-BE49-F238E27FC236}">
                <a16:creationId xmlns:a16="http://schemas.microsoft.com/office/drawing/2014/main" id="{56209ACE-A4F7-EAC9-E98F-D141BE77F994}"/>
              </a:ext>
            </a:extLst>
          </p:cNvPr>
          <p:cNvGrpSpPr/>
          <p:nvPr userDrawn="1"/>
        </p:nvGrpSpPr>
        <p:grpSpPr>
          <a:xfrm>
            <a:off x="11094856" y="6244940"/>
            <a:ext cx="1098532" cy="613059"/>
            <a:chOff x="8965342" y="4231217"/>
            <a:chExt cx="1608171" cy="897474"/>
          </a:xfrm>
        </p:grpSpPr>
        <p:pic>
          <p:nvPicPr>
            <p:cNvPr id="60" name="Graphic 59">
              <a:extLst>
                <a:ext uri="{FF2B5EF4-FFF2-40B4-BE49-F238E27FC236}">
                  <a16:creationId xmlns:a16="http://schemas.microsoft.com/office/drawing/2014/main" id="{EFEE4105-67FB-F40B-E7BD-8C9B80C32F89}"/>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9321121" y="4418033"/>
              <a:ext cx="897474" cy="355817"/>
            </a:xfrm>
            <a:prstGeom prst="rect">
              <a:avLst/>
            </a:prstGeom>
          </p:spPr>
        </p:pic>
        <p:pic>
          <p:nvPicPr>
            <p:cNvPr id="61" name="Graphic 60" hidden="1">
              <a:extLst>
                <a:ext uri="{FF2B5EF4-FFF2-40B4-BE49-F238E27FC236}">
                  <a16:creationId xmlns:a16="http://schemas.microsoft.com/office/drawing/2014/main" id="{9AB2407C-B3E2-DCDD-0692-DD32E3C45227}"/>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9321121" y="4772874"/>
              <a:ext cx="897474" cy="355817"/>
            </a:xfrm>
            <a:prstGeom prst="rect">
              <a:avLst/>
            </a:prstGeom>
          </p:spPr>
        </p:pic>
        <p:pic>
          <p:nvPicPr>
            <p:cNvPr id="62" name="Graphic 61" hidden="1">
              <a:extLst>
                <a:ext uri="{FF2B5EF4-FFF2-40B4-BE49-F238E27FC236}">
                  <a16:creationId xmlns:a16="http://schemas.microsoft.com/office/drawing/2014/main" id="{9128FFA9-E729-6051-FE44-5C57854D2B9B}"/>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16200000">
              <a:off x="9946868" y="4502045"/>
              <a:ext cx="897474" cy="355817"/>
            </a:xfrm>
            <a:prstGeom prst="rect">
              <a:avLst/>
            </a:prstGeom>
          </p:spPr>
        </p:pic>
        <p:pic>
          <p:nvPicPr>
            <p:cNvPr id="63" name="Graphic 62" hidden="1">
              <a:extLst>
                <a:ext uri="{FF2B5EF4-FFF2-40B4-BE49-F238E27FC236}">
                  <a16:creationId xmlns:a16="http://schemas.microsoft.com/office/drawing/2014/main" id="{21D1BE07-55D7-FEB6-D90F-FC214DFBDA4C}"/>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16200000">
              <a:off x="8694514" y="4502045"/>
              <a:ext cx="897474" cy="355817"/>
            </a:xfrm>
            <a:prstGeom prst="rect">
              <a:avLst/>
            </a:prstGeom>
          </p:spPr>
        </p:pic>
      </p:grpSp>
      <p:pic>
        <p:nvPicPr>
          <p:cNvPr id="66" name="Graphic 65">
            <a:extLst>
              <a:ext uri="{FF2B5EF4-FFF2-40B4-BE49-F238E27FC236}">
                <a16:creationId xmlns:a16="http://schemas.microsoft.com/office/drawing/2014/main" id="{FD0E63E5-36ED-0A5F-F2A0-E31AD11555EA}"/>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241053" y="6372101"/>
            <a:ext cx="1630680" cy="247650"/>
          </a:xfrm>
          <a:prstGeom prst="rect">
            <a:avLst/>
          </a:prstGeom>
        </p:spPr>
      </p:pic>
      <p:sp>
        <p:nvSpPr>
          <p:cNvPr id="67" name="Rectangle 66" hidden="1">
            <a:extLst>
              <a:ext uri="{FF2B5EF4-FFF2-40B4-BE49-F238E27FC236}">
                <a16:creationId xmlns:a16="http://schemas.microsoft.com/office/drawing/2014/main" id="{04EE5960-43EB-4B14-0782-2876BE85A607}"/>
              </a:ext>
            </a:extLst>
          </p:cNvPr>
          <p:cNvSpPr/>
          <p:nvPr userDrawn="1"/>
        </p:nvSpPr>
        <p:spPr>
          <a:xfrm>
            <a:off x="-76201" y="6356350"/>
            <a:ext cx="12353925" cy="276797"/>
          </a:xfrm>
          <a:prstGeom prst="rect">
            <a:avLst/>
          </a:prstGeom>
          <a:noFill/>
          <a:ln w="28575">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8"/>
    </p:custDataLst>
    <p:extLst>
      <p:ext uri="{BB962C8B-B14F-4D97-AF65-F5344CB8AC3E}">
        <p14:creationId xmlns:p14="http://schemas.microsoft.com/office/powerpoint/2010/main" val="12704429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6" r:id="rId4"/>
    <p:sldLayoutId id="2147483667" r:id="rId5"/>
    <p:sldLayoutId id="2147483673" r:id="rId6"/>
  </p:sldLayoutIdLst>
  <p:txStyles>
    <p:title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p:titleStyle>
    <p:body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2.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customXml" Target="../ink/ink8.xml"/><Relationship Id="rId3" Type="http://schemas.openxmlformats.org/officeDocument/2006/relationships/image" Target="../media/image9.png"/><Relationship Id="rId7" Type="http://schemas.openxmlformats.org/officeDocument/2006/relationships/customXml" Target="../ink/ink3.xml"/><Relationship Id="rId12" Type="http://schemas.openxmlformats.org/officeDocument/2006/relationships/customXml" Target="../ink/ink7.xml"/><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customXml" Target="../ink/ink2.xml"/><Relationship Id="rId11" Type="http://schemas.openxmlformats.org/officeDocument/2006/relationships/customXml" Target="../ink/ink6.xml"/><Relationship Id="rId5" Type="http://schemas.openxmlformats.org/officeDocument/2006/relationships/image" Target="../media/image10.png"/><Relationship Id="rId10" Type="http://schemas.openxmlformats.org/officeDocument/2006/relationships/customXml" Target="../ink/ink5.xml"/><Relationship Id="rId4" Type="http://schemas.openxmlformats.org/officeDocument/2006/relationships/customXml" Target="../ink/ink1.xml"/><Relationship Id="rId9" Type="http://schemas.openxmlformats.org/officeDocument/2006/relationships/image" Target="../media/image11.png"/><Relationship Id="rId14" Type="http://schemas.openxmlformats.org/officeDocument/2006/relationships/customXml" Target="../ink/ink9.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0.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3.xml"/><Relationship Id="rId1" Type="http://schemas.openxmlformats.org/officeDocument/2006/relationships/tags" Target="../tags/tag11.xml"/></Relationships>
</file>

<file path=ppt/slides/_rels/slide6.xml.rels><?xml version="1.0" encoding="UTF-8" standalone="yes"?>
<Relationships xmlns="http://schemas.openxmlformats.org/package/2006/relationships"><Relationship Id="rId3" Type="http://schemas.openxmlformats.org/officeDocument/2006/relationships/hyperlink" Target="https://api.spacexdata.com/v4/rockets/" TargetMode="External"/><Relationship Id="rId2" Type="http://schemas.openxmlformats.org/officeDocument/2006/relationships/slideLayout" Target="../slideLayouts/slideLayout3.xml"/><Relationship Id="rId1" Type="http://schemas.openxmlformats.org/officeDocument/2006/relationships/tags" Target="../tags/tag12.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hyperlink" Target="https://en.wikipedia.org/wiki/List_of_Falcon_9_and_Falcon_Heavy_launches" TargetMode="External"/><Relationship Id="rId2" Type="http://schemas.openxmlformats.org/officeDocument/2006/relationships/slideLayout" Target="../slideLayouts/slideLayout3.xml"/><Relationship Id="rId1" Type="http://schemas.openxmlformats.org/officeDocument/2006/relationships/tags" Target="../tags/tag13.xml"/><Relationship Id="rId5" Type="http://schemas.openxmlformats.org/officeDocument/2006/relationships/image" Target="../media/image14.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3.xml"/><Relationship Id="rId1" Type="http://schemas.openxmlformats.org/officeDocument/2006/relationships/tags" Target="../tags/tag14.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3.xml"/><Relationship Id="rId1" Type="http://schemas.openxmlformats.org/officeDocument/2006/relationships/tags" Target="../tags/tag15.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3.xml"/><Relationship Id="rId1" Type="http://schemas.openxmlformats.org/officeDocument/2006/relationships/tags" Target="../tags/tag16.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3.xml"/><Relationship Id="rId1" Type="http://schemas.openxmlformats.org/officeDocument/2006/relationships/tags" Target="../tags/tag1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3.xml"/><Relationship Id="rId1" Type="http://schemas.openxmlformats.org/officeDocument/2006/relationships/tags" Target="../tags/tag18.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9.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3.xml"/><Relationship Id="rId1" Type="http://schemas.openxmlformats.org/officeDocument/2006/relationships/tags" Target="../tags/tag20.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3.xml"/><Relationship Id="rId1" Type="http://schemas.openxmlformats.org/officeDocument/2006/relationships/tags" Target="../tags/tag21.xml"/><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3.xml"/><Relationship Id="rId1" Type="http://schemas.openxmlformats.org/officeDocument/2006/relationships/tags" Target="../tags/tag22.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3.xml"/><Relationship Id="rId1" Type="http://schemas.openxmlformats.org/officeDocument/2006/relationships/tags" Target="../tags/tag23.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3.xml"/><Relationship Id="rId1" Type="http://schemas.openxmlformats.org/officeDocument/2006/relationships/tags" Target="../tags/tag24.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3.xml"/><Relationship Id="rId1" Type="http://schemas.openxmlformats.org/officeDocument/2006/relationships/tags" Target="../tags/tag25.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3.xml"/><Relationship Id="rId1" Type="http://schemas.openxmlformats.org/officeDocument/2006/relationships/tags" Target="../tags/tag26.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3.xml"/><Relationship Id="rId1" Type="http://schemas.openxmlformats.org/officeDocument/2006/relationships/tags" Target="../tags/tag27.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3.xml"/><Relationship Id="rId1" Type="http://schemas.openxmlformats.org/officeDocument/2006/relationships/tags" Target="../tags/tag28.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3.xml"/><Relationship Id="rId1" Type="http://schemas.openxmlformats.org/officeDocument/2006/relationships/tags" Target="../tags/tag29.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Layout" Target="../slideLayouts/slideLayout3.xml"/><Relationship Id="rId1" Type="http://schemas.openxmlformats.org/officeDocument/2006/relationships/tags" Target="../tags/tag30.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Layout" Target="../slideLayouts/slideLayout3.xml"/><Relationship Id="rId1" Type="http://schemas.openxmlformats.org/officeDocument/2006/relationships/tags" Target="../tags/tag31.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Layout" Target="../slideLayouts/slideLayout3.xml"/><Relationship Id="rId1" Type="http://schemas.openxmlformats.org/officeDocument/2006/relationships/tags" Target="../tags/tag32.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Layout" Target="../slideLayouts/slideLayout3.xml"/><Relationship Id="rId1" Type="http://schemas.openxmlformats.org/officeDocument/2006/relationships/tags" Target="../tags/tag33.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slideLayout" Target="../slideLayouts/slideLayout3.xml"/><Relationship Id="rId1" Type="http://schemas.openxmlformats.org/officeDocument/2006/relationships/tags" Target="../tags/tag34.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Layout" Target="../slideLayouts/slideLayout3.xml"/><Relationship Id="rId1" Type="http://schemas.openxmlformats.org/officeDocument/2006/relationships/tags" Target="../tags/tag35.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Layout" Target="../slideLayouts/slideLayout3.xml"/><Relationship Id="rId1" Type="http://schemas.openxmlformats.org/officeDocument/2006/relationships/tags" Target="../tags/tag36.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Layout" Target="../slideLayouts/slideLayout3.xml"/><Relationship Id="rId1" Type="http://schemas.openxmlformats.org/officeDocument/2006/relationships/tags" Target="../tags/tag37.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Layout" Target="../slideLayouts/slideLayout3.xml"/><Relationship Id="rId1" Type="http://schemas.openxmlformats.org/officeDocument/2006/relationships/tags" Target="../tags/tag38.xml"/></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Layout" Target="../slideLayouts/slideLayout3.xml"/><Relationship Id="rId1" Type="http://schemas.openxmlformats.org/officeDocument/2006/relationships/tags" Target="../tags/tag39.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0.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slideLayout" Target="../slideLayouts/slideLayout3.xml"/><Relationship Id="rId1" Type="http://schemas.openxmlformats.org/officeDocument/2006/relationships/tags" Target="../tags/tag41.xml"/></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slideLayout" Target="../slideLayouts/slideLayout3.xml"/><Relationship Id="rId1" Type="http://schemas.openxmlformats.org/officeDocument/2006/relationships/tags" Target="../tags/tag42.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slideLayout" Target="../slideLayouts/slideLayout3.xml"/><Relationship Id="rId1" Type="http://schemas.openxmlformats.org/officeDocument/2006/relationships/tags" Target="../tags/tag43.xml"/></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slideLayout" Target="../slideLayouts/slideLayout3.xml"/><Relationship Id="rId1" Type="http://schemas.openxmlformats.org/officeDocument/2006/relationships/tags" Target="../tags/tag44.xml"/></Relationships>
</file>

<file path=ppt/slides/_rels/slide3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slideLayout" Target="../slideLayouts/slideLayout3.xml"/><Relationship Id="rId1" Type="http://schemas.openxmlformats.org/officeDocument/2006/relationships/tags" Target="../tags/tag45.xml"/></Relationships>
</file>

<file path=ppt/slides/_rels/slide40.xml.rels><?xml version="1.0" encoding="UTF-8" standalone="yes"?>
<Relationships xmlns="http://schemas.openxmlformats.org/package/2006/relationships"><Relationship Id="rId8" Type="http://schemas.openxmlformats.org/officeDocument/2006/relationships/hyperlink" Target="https://github.com/sunandasharma/FinalAssignment/blob/Master/jupyter-labs-eda-sql-coursera_sqllite.ipynb" TargetMode="External"/><Relationship Id="rId3" Type="http://schemas.openxmlformats.org/officeDocument/2006/relationships/hyperlink" Target="https://api.spacexdata.com/v4/rockets/" TargetMode="External"/><Relationship Id="rId7" Type="http://schemas.openxmlformats.org/officeDocument/2006/relationships/hyperlink" Target="https://github.com/sunandasharma/FinalAssignment/blob/Master/edadataviz.ipynb" TargetMode="External"/><Relationship Id="rId12" Type="http://schemas.openxmlformats.org/officeDocument/2006/relationships/hyperlink" Target="https://github.com/sunandasharma/FinalAssignment/blob/Master/spacex_launch_dash.csv" TargetMode="External"/><Relationship Id="rId2" Type="http://schemas.openxmlformats.org/officeDocument/2006/relationships/slideLayout" Target="../slideLayouts/slideLayout3.xml"/><Relationship Id="rId1" Type="http://schemas.openxmlformats.org/officeDocument/2006/relationships/tags" Target="../tags/tag46.xml"/><Relationship Id="rId6" Type="http://schemas.openxmlformats.org/officeDocument/2006/relationships/hyperlink" Target="https://github.com/sunandasharma/FinalAssignment/blob/Master/SpaceX_Machine%20Learning%20Prediction_Part_5.ipynb" TargetMode="External"/><Relationship Id="rId11" Type="http://schemas.openxmlformats.org/officeDocument/2006/relationships/hyperlink" Target="https://github.com/sunandasharma/FinalAssignment/blob/Master/labs-jupyter-spacex-Data%20wrangling.ipynb" TargetMode="External"/><Relationship Id="rId5" Type="http://schemas.openxmlformats.org/officeDocument/2006/relationships/hyperlink" Target="https://github.com/sunandasharma/FinalAssignment/blob/Master/spacex-dash-app%20(3).py" TargetMode="External"/><Relationship Id="rId10" Type="http://schemas.openxmlformats.org/officeDocument/2006/relationships/hyperlink" Target="https://github.com/sunandasharma/FinalAssignment/blob/Master/jupyter-labs-webscraping%20(2).ipynb" TargetMode="External"/><Relationship Id="rId4" Type="http://schemas.openxmlformats.org/officeDocument/2006/relationships/hyperlink" Target="https://en.wikipedia.org/wiki/List_of_Falcon_9_and_Falcon_Heavy_launches" TargetMode="External"/><Relationship Id="rId9" Type="http://schemas.openxmlformats.org/officeDocument/2006/relationships/hyperlink" Target="https://github.com/sunandasharma/FinalAssignment/blob/Master/jupyter-labs-spacex-data-collection-api%20(1).ipynb"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D5631-0297-E86E-7069-C969B141FD7D}"/>
              </a:ext>
            </a:extLst>
          </p:cNvPr>
          <p:cNvSpPr>
            <a:spLocks noGrp="1"/>
          </p:cNvSpPr>
          <p:nvPr>
            <p:ph type="ctrTitle"/>
          </p:nvPr>
        </p:nvSpPr>
        <p:spPr>
          <a:xfrm>
            <a:off x="-1024427" y="1168401"/>
            <a:ext cx="10964254" cy="2387600"/>
          </a:xfrm>
          <a:noFill/>
        </p:spPr>
        <p:txBody>
          <a:bodyPr/>
          <a:lstStyle/>
          <a:p>
            <a:r>
              <a:rPr lang="en-US" dirty="0">
                <a:latin typeface="IBM Plex Sans SemiBold"/>
              </a:rPr>
              <a:t>SpaceX Falcon Launch </a:t>
            </a:r>
            <a:r>
              <a:rPr lang="en-US" dirty="0" err="1">
                <a:latin typeface="IBM Plex Sans SemiBold"/>
              </a:rPr>
              <a:t>fIN</a:t>
            </a:r>
            <a:br>
              <a:rPr lang="en-US" dirty="0">
                <a:latin typeface="IBM Plex Sans SemiBold"/>
              </a:rPr>
            </a:br>
            <a:r>
              <a:rPr lang="en-US" dirty="0">
                <a:latin typeface="IBM Plex Sans SemiBold"/>
              </a:rPr>
              <a:t>Findings</a:t>
            </a:r>
            <a:endParaRPr lang="en-US"/>
          </a:p>
        </p:txBody>
      </p:sp>
      <p:sp>
        <p:nvSpPr>
          <p:cNvPr id="3" name="Subtitle 2">
            <a:extLst>
              <a:ext uri="{FF2B5EF4-FFF2-40B4-BE49-F238E27FC236}">
                <a16:creationId xmlns:a16="http://schemas.microsoft.com/office/drawing/2014/main" id="{59DF6B8D-2BAC-11F8-7D28-B631D08C8D90}"/>
              </a:ext>
            </a:extLst>
          </p:cNvPr>
          <p:cNvSpPr>
            <a:spLocks noGrp="1"/>
          </p:cNvSpPr>
          <p:nvPr>
            <p:ph type="subTitle" idx="1"/>
          </p:nvPr>
        </p:nvSpPr>
        <p:spPr>
          <a:xfrm>
            <a:off x="-110027" y="3731247"/>
            <a:ext cx="9135454" cy="1655762"/>
          </a:xfrm>
          <a:noFill/>
        </p:spPr>
        <p:txBody>
          <a:bodyPr vert="horz" lIns="91440" tIns="45720" rIns="91440" bIns="45720" rtlCol="0" anchor="t">
            <a:normAutofit/>
          </a:bodyPr>
          <a:lstStyle/>
          <a:p>
            <a:r>
              <a:rPr lang="en-US">
                <a:latin typeface="IBM Plex Sans"/>
              </a:rPr>
              <a:t>Sunanda Sharma</a:t>
            </a:r>
          </a:p>
          <a:p>
            <a:r>
              <a:rPr lang="en-US" dirty="0">
                <a:latin typeface="IBM Plex Sans"/>
              </a:rPr>
              <a:t>May 17,2025</a:t>
            </a:r>
          </a:p>
        </p:txBody>
      </p:sp>
      <p:pic>
        <p:nvPicPr>
          <p:cNvPr id="4" name="Picture 3">
            <a:extLst>
              <a:ext uri="{FF2B5EF4-FFF2-40B4-BE49-F238E27FC236}">
                <a16:creationId xmlns:a16="http://schemas.microsoft.com/office/drawing/2014/main" id="{77323E2C-8982-861D-BE1D-3E30E5CC437C}"/>
              </a:ext>
            </a:extLst>
          </p:cNvPr>
          <p:cNvPicPr>
            <a:picLocks noChangeAspect="1"/>
          </p:cNvPicPr>
          <p:nvPr/>
        </p:nvPicPr>
        <p:blipFill>
          <a:blip r:embed="rId3"/>
          <a:stretch>
            <a:fillRect/>
          </a:stretch>
        </p:blipFill>
        <p:spPr>
          <a:xfrm>
            <a:off x="7184719" y="387350"/>
            <a:ext cx="4794861" cy="4351338"/>
          </a:xfrm>
          <a:prstGeom prst="rect">
            <a:avLst/>
          </a:prstGeom>
          <a:noFill/>
        </p:spPr>
      </p:pic>
    </p:spTree>
    <p:custDataLst>
      <p:tags r:id="rId1"/>
    </p:custDataLst>
    <p:extLst>
      <p:ext uri="{BB962C8B-B14F-4D97-AF65-F5344CB8AC3E}">
        <p14:creationId xmlns:p14="http://schemas.microsoft.com/office/powerpoint/2010/main" val="4009730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13BC838-B25A-D37F-BC71-DD617895704C}"/>
              </a:ext>
            </a:extLst>
          </p:cNvPr>
          <p:cNvPicPr>
            <a:picLocks noChangeAspect="1"/>
          </p:cNvPicPr>
          <p:nvPr/>
        </p:nvPicPr>
        <p:blipFill>
          <a:blip r:embed="rId3"/>
          <a:stretch>
            <a:fillRect/>
          </a:stretch>
        </p:blipFill>
        <p:spPr>
          <a:xfrm>
            <a:off x="1450711" y="2025672"/>
            <a:ext cx="3194581" cy="3194581"/>
          </a:xfrm>
          <a:prstGeom prst="rect">
            <a:avLst/>
          </a:prstGeom>
        </p:spPr>
      </p:pic>
      <p:sp>
        <p:nvSpPr>
          <p:cNvPr id="9" name="Title 1">
            <a:extLst>
              <a:ext uri="{FF2B5EF4-FFF2-40B4-BE49-F238E27FC236}">
                <a16:creationId xmlns:a16="http://schemas.microsoft.com/office/drawing/2014/main" id="{EEC79264-7E04-A135-9158-F7EF333AC3D8}"/>
              </a:ext>
            </a:extLst>
          </p:cNvPr>
          <p:cNvSpPr txBox="1">
            <a:spLocks/>
          </p:cNvSpPr>
          <p:nvPr/>
        </p:nvSpPr>
        <p:spPr>
          <a:xfrm>
            <a:off x="782054" y="263810"/>
            <a:ext cx="850852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OUTLINE</a:t>
            </a:r>
            <a:endParaRPr lang="en-US" dirty="0"/>
          </a:p>
        </p:txBody>
      </p:sp>
      <p:sp>
        <p:nvSpPr>
          <p:cNvPr id="10" name="Content Placeholder 2">
            <a:extLst>
              <a:ext uri="{FF2B5EF4-FFF2-40B4-BE49-F238E27FC236}">
                <a16:creationId xmlns:a16="http://schemas.microsoft.com/office/drawing/2014/main" id="{79639434-C7DB-C6DD-28C9-5FE3588C5BC8}"/>
              </a:ext>
            </a:extLst>
          </p:cNvPr>
          <p:cNvSpPr txBox="1">
            <a:spLocks/>
          </p:cNvSpPr>
          <p:nvPr/>
        </p:nvSpPr>
        <p:spPr>
          <a:xfrm>
            <a:off x="6172200" y="1825625"/>
            <a:ext cx="5181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200" dirty="0"/>
              <a:t>Executive Summary</a:t>
            </a:r>
          </a:p>
          <a:p>
            <a:r>
              <a:rPr lang="en-US" sz="2200" dirty="0"/>
              <a:t>Introduction</a:t>
            </a:r>
          </a:p>
          <a:p>
            <a:r>
              <a:rPr lang="en-US" sz="2200" dirty="0"/>
              <a:t>Methodology</a:t>
            </a:r>
          </a:p>
          <a:p>
            <a:r>
              <a:rPr lang="en-US" sz="2200" dirty="0"/>
              <a:t>Results</a:t>
            </a:r>
          </a:p>
          <a:p>
            <a:pPr lvl="1"/>
            <a:r>
              <a:rPr lang="en-US" sz="1800" dirty="0"/>
              <a:t>Visualization – Charts</a:t>
            </a:r>
          </a:p>
          <a:p>
            <a:pPr lvl="1"/>
            <a:r>
              <a:rPr lang="en-US" sz="1800" dirty="0"/>
              <a:t>Dashboard</a:t>
            </a:r>
          </a:p>
          <a:p>
            <a:r>
              <a:rPr lang="en-US" sz="2200" dirty="0"/>
              <a:t>Discussion</a:t>
            </a:r>
          </a:p>
          <a:p>
            <a:pPr lvl="1"/>
            <a:r>
              <a:rPr lang="en-US" sz="1800" dirty="0"/>
              <a:t>Findings &amp; Implications</a:t>
            </a:r>
          </a:p>
          <a:p>
            <a:r>
              <a:rPr lang="en-US" sz="2200" dirty="0"/>
              <a:t>Conclusion</a:t>
            </a:r>
          </a:p>
          <a:p>
            <a:r>
              <a:rPr lang="en-US" sz="2200" dirty="0"/>
              <a:t>Appendix</a:t>
            </a:r>
          </a:p>
        </p:txBody>
      </p:sp>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17992DA0-58E4-05C4-71CF-DD740B996440}"/>
                  </a:ext>
                </a:extLst>
              </p14:cNvPr>
              <p14:cNvContentPartPr/>
              <p14:nvPr/>
            </p14:nvContentPartPr>
            <p14:xfrm>
              <a:off x="1889280" y="999312"/>
              <a:ext cx="360" cy="360"/>
            </p14:xfrm>
          </p:contentPart>
        </mc:Choice>
        <mc:Fallback xmlns="">
          <p:pic>
            <p:nvPicPr>
              <p:cNvPr id="11" name="Ink 10">
                <a:extLst>
                  <a:ext uri="{FF2B5EF4-FFF2-40B4-BE49-F238E27FC236}">
                    <a16:creationId xmlns:a16="http://schemas.microsoft.com/office/drawing/2014/main" id="{17992DA0-58E4-05C4-71CF-DD740B996440}"/>
                  </a:ext>
                </a:extLst>
              </p:cNvPr>
              <p:cNvPicPr/>
              <p:nvPr/>
            </p:nvPicPr>
            <p:blipFill>
              <a:blip r:embed="rId5"/>
              <a:stretch>
                <a:fillRect/>
              </a:stretch>
            </p:blipFill>
            <p:spPr>
              <a:xfrm>
                <a:off x="1799280" y="81931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482A2257-403C-392A-475C-257A25E95802}"/>
                  </a:ext>
                </a:extLst>
              </p14:cNvPr>
              <p14:cNvContentPartPr/>
              <p14:nvPr/>
            </p14:nvContentPartPr>
            <p14:xfrm>
              <a:off x="2328120" y="962952"/>
              <a:ext cx="360" cy="360"/>
            </p14:xfrm>
          </p:contentPart>
        </mc:Choice>
        <mc:Fallback xmlns="">
          <p:pic>
            <p:nvPicPr>
              <p:cNvPr id="12" name="Ink 11">
                <a:extLst>
                  <a:ext uri="{FF2B5EF4-FFF2-40B4-BE49-F238E27FC236}">
                    <a16:creationId xmlns:a16="http://schemas.microsoft.com/office/drawing/2014/main" id="{482A2257-403C-392A-475C-257A25E95802}"/>
                  </a:ext>
                </a:extLst>
              </p:cNvPr>
              <p:cNvPicPr/>
              <p:nvPr/>
            </p:nvPicPr>
            <p:blipFill>
              <a:blip r:embed="rId5"/>
              <a:stretch>
                <a:fillRect/>
              </a:stretch>
            </p:blipFill>
            <p:spPr>
              <a:xfrm>
                <a:off x="2238120" y="782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D029E5DF-95C3-9324-3430-6C07411D941C}"/>
                  </a:ext>
                </a:extLst>
              </p14:cNvPr>
              <p14:cNvContentPartPr/>
              <p14:nvPr/>
            </p14:nvContentPartPr>
            <p14:xfrm>
              <a:off x="2828160" y="926232"/>
              <a:ext cx="360" cy="360"/>
            </p14:xfrm>
          </p:contentPart>
        </mc:Choice>
        <mc:Fallback xmlns="">
          <p:pic>
            <p:nvPicPr>
              <p:cNvPr id="13" name="Ink 12">
                <a:extLst>
                  <a:ext uri="{FF2B5EF4-FFF2-40B4-BE49-F238E27FC236}">
                    <a16:creationId xmlns:a16="http://schemas.microsoft.com/office/drawing/2014/main" id="{D029E5DF-95C3-9324-3430-6C07411D941C}"/>
                  </a:ext>
                </a:extLst>
              </p:cNvPr>
              <p:cNvPicPr/>
              <p:nvPr/>
            </p:nvPicPr>
            <p:blipFill>
              <a:blip r:embed="rId5"/>
              <a:stretch>
                <a:fillRect/>
              </a:stretch>
            </p:blipFill>
            <p:spPr>
              <a:xfrm>
                <a:off x="2738160" y="74623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4" name="Ink 13">
                <a:extLst>
                  <a:ext uri="{FF2B5EF4-FFF2-40B4-BE49-F238E27FC236}">
                    <a16:creationId xmlns:a16="http://schemas.microsoft.com/office/drawing/2014/main" id="{51E65F16-DA3B-6993-F729-45193F9CF124}"/>
                  </a:ext>
                </a:extLst>
              </p14:cNvPr>
              <p14:cNvContentPartPr/>
              <p14:nvPr/>
            </p14:nvContentPartPr>
            <p14:xfrm>
              <a:off x="2828160" y="926232"/>
              <a:ext cx="3240" cy="5040"/>
            </p14:xfrm>
          </p:contentPart>
        </mc:Choice>
        <mc:Fallback xmlns="">
          <p:pic>
            <p:nvPicPr>
              <p:cNvPr id="14" name="Ink 13">
                <a:extLst>
                  <a:ext uri="{FF2B5EF4-FFF2-40B4-BE49-F238E27FC236}">
                    <a16:creationId xmlns:a16="http://schemas.microsoft.com/office/drawing/2014/main" id="{51E65F16-DA3B-6993-F729-45193F9CF124}"/>
                  </a:ext>
                </a:extLst>
              </p:cNvPr>
              <p:cNvPicPr/>
              <p:nvPr/>
            </p:nvPicPr>
            <p:blipFill>
              <a:blip r:embed="rId9"/>
              <a:stretch>
                <a:fillRect/>
              </a:stretch>
            </p:blipFill>
            <p:spPr>
              <a:xfrm>
                <a:off x="2738160" y="758232"/>
                <a:ext cx="182880" cy="340704"/>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DA4954AB-7AA6-D07E-B72B-071B959556E6}"/>
                  </a:ext>
                </a:extLst>
              </p14:cNvPr>
              <p14:cNvContentPartPr/>
              <p14:nvPr/>
            </p14:nvContentPartPr>
            <p14:xfrm>
              <a:off x="7266240" y="2888952"/>
              <a:ext cx="360" cy="360"/>
            </p14:xfrm>
          </p:contentPart>
        </mc:Choice>
        <mc:Fallback xmlns="">
          <p:pic>
            <p:nvPicPr>
              <p:cNvPr id="15" name="Ink 14">
                <a:extLst>
                  <a:ext uri="{FF2B5EF4-FFF2-40B4-BE49-F238E27FC236}">
                    <a16:creationId xmlns:a16="http://schemas.microsoft.com/office/drawing/2014/main" id="{DA4954AB-7AA6-D07E-B72B-071B959556E6}"/>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4C9430D9-2989-125F-94DC-1DA2D66BDD55}"/>
                  </a:ext>
                </a:extLst>
              </p14:cNvPr>
              <p14:cNvContentPartPr/>
              <p14:nvPr/>
            </p14:nvContentPartPr>
            <p14:xfrm>
              <a:off x="7266240" y="2888952"/>
              <a:ext cx="360" cy="360"/>
            </p14:xfrm>
          </p:contentPart>
        </mc:Choice>
        <mc:Fallback xmlns="">
          <p:pic>
            <p:nvPicPr>
              <p:cNvPr id="16" name="Ink 15">
                <a:extLst>
                  <a:ext uri="{FF2B5EF4-FFF2-40B4-BE49-F238E27FC236}">
                    <a16:creationId xmlns:a16="http://schemas.microsoft.com/office/drawing/2014/main" id="{4C9430D9-2989-125F-94DC-1DA2D66BDD55}"/>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7" name="Ink 16">
                <a:extLst>
                  <a:ext uri="{FF2B5EF4-FFF2-40B4-BE49-F238E27FC236}">
                    <a16:creationId xmlns:a16="http://schemas.microsoft.com/office/drawing/2014/main" id="{009380E8-5542-6CEB-DEF5-1F0E98FBDFC2}"/>
                  </a:ext>
                </a:extLst>
              </p14:cNvPr>
              <p14:cNvContentPartPr/>
              <p14:nvPr/>
            </p14:nvContentPartPr>
            <p14:xfrm>
              <a:off x="7266240" y="2888952"/>
              <a:ext cx="360" cy="360"/>
            </p14:xfrm>
          </p:contentPart>
        </mc:Choice>
        <mc:Fallback xmlns="">
          <p:pic>
            <p:nvPicPr>
              <p:cNvPr id="17" name="Ink 16">
                <a:extLst>
                  <a:ext uri="{FF2B5EF4-FFF2-40B4-BE49-F238E27FC236}">
                    <a16:creationId xmlns:a16="http://schemas.microsoft.com/office/drawing/2014/main" id="{009380E8-5542-6CEB-DEF5-1F0E98FBDFC2}"/>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8" name="Ink 17">
                <a:extLst>
                  <a:ext uri="{FF2B5EF4-FFF2-40B4-BE49-F238E27FC236}">
                    <a16:creationId xmlns:a16="http://schemas.microsoft.com/office/drawing/2014/main" id="{73A9B50E-8658-465E-AEAA-D97CD87BB40D}"/>
                  </a:ext>
                </a:extLst>
              </p14:cNvPr>
              <p14:cNvContentPartPr/>
              <p14:nvPr/>
            </p14:nvContentPartPr>
            <p14:xfrm>
              <a:off x="7266240" y="2888952"/>
              <a:ext cx="360" cy="360"/>
            </p14:xfrm>
          </p:contentPart>
        </mc:Choice>
        <mc:Fallback xmlns="">
          <p:pic>
            <p:nvPicPr>
              <p:cNvPr id="18" name="Ink 17">
                <a:extLst>
                  <a:ext uri="{FF2B5EF4-FFF2-40B4-BE49-F238E27FC236}">
                    <a16:creationId xmlns:a16="http://schemas.microsoft.com/office/drawing/2014/main" id="{73A9B50E-8658-465E-AEAA-D97CD87BB40D}"/>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9" name="Ink 18">
                <a:extLst>
                  <a:ext uri="{FF2B5EF4-FFF2-40B4-BE49-F238E27FC236}">
                    <a16:creationId xmlns:a16="http://schemas.microsoft.com/office/drawing/2014/main" id="{329C95BA-F81E-F99B-4BF2-F62AECFA21A6}"/>
                  </a:ext>
                </a:extLst>
              </p14:cNvPr>
              <p14:cNvContentPartPr/>
              <p14:nvPr/>
            </p14:nvContentPartPr>
            <p14:xfrm>
              <a:off x="6680880" y="2877072"/>
              <a:ext cx="360" cy="360"/>
            </p14:xfrm>
          </p:contentPart>
        </mc:Choice>
        <mc:Fallback xmlns="">
          <p:pic>
            <p:nvPicPr>
              <p:cNvPr id="19" name="Ink 18">
                <a:extLst>
                  <a:ext uri="{FF2B5EF4-FFF2-40B4-BE49-F238E27FC236}">
                    <a16:creationId xmlns:a16="http://schemas.microsoft.com/office/drawing/2014/main" id="{329C95BA-F81E-F99B-4BF2-F62AECFA21A6}"/>
                  </a:ext>
                </a:extLst>
              </p:cNvPr>
              <p:cNvPicPr/>
              <p:nvPr/>
            </p:nvPicPr>
            <p:blipFill>
              <a:blip r:embed="rId5"/>
              <a:stretch>
                <a:fillRect/>
              </a:stretch>
            </p:blipFill>
            <p:spPr>
              <a:xfrm>
                <a:off x="6590880" y="2697072"/>
                <a:ext cx="180000" cy="360000"/>
              </a:xfrm>
              <a:prstGeom prst="rect">
                <a:avLst/>
              </a:prstGeom>
            </p:spPr>
          </p:pic>
        </mc:Fallback>
      </mc:AlternateContent>
    </p:spTree>
    <p:custDataLst>
      <p:tags r:id="rId1"/>
    </p:custDataLst>
    <p:extLst>
      <p:ext uri="{BB962C8B-B14F-4D97-AF65-F5344CB8AC3E}">
        <p14:creationId xmlns:p14="http://schemas.microsoft.com/office/powerpoint/2010/main" val="1453241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E6888-23C4-6C0B-6696-AE29710A2E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D2DD67-FE8C-AC8D-868C-54A26CDAB1B4}"/>
              </a:ext>
            </a:extLst>
          </p:cNvPr>
          <p:cNvSpPr>
            <a:spLocks noGrp="1"/>
          </p:cNvSpPr>
          <p:nvPr>
            <p:ph type="title"/>
          </p:nvPr>
        </p:nvSpPr>
        <p:spPr>
          <a:xfrm>
            <a:off x="733926" y="304965"/>
            <a:ext cx="8565109" cy="1325563"/>
          </a:xfrm>
        </p:spPr>
        <p:txBody>
          <a:bodyPr anchor="ctr">
            <a:normAutofit/>
          </a:bodyPr>
          <a:lstStyle/>
          <a:p>
            <a:r>
              <a:rPr lang="en-US" dirty="0"/>
              <a:t>EXECUTIVE SUMMARY</a:t>
            </a:r>
          </a:p>
        </p:txBody>
      </p:sp>
      <p:sp>
        <p:nvSpPr>
          <p:cNvPr id="3" name="Content Placeholder 2">
            <a:extLst>
              <a:ext uri="{FF2B5EF4-FFF2-40B4-BE49-F238E27FC236}">
                <a16:creationId xmlns:a16="http://schemas.microsoft.com/office/drawing/2014/main" id="{C353800A-098B-E73D-7E73-E99F3CBD37AA}"/>
              </a:ext>
            </a:extLst>
          </p:cNvPr>
          <p:cNvSpPr txBox="1">
            <a:spLocks/>
          </p:cNvSpPr>
          <p:nvPr/>
        </p:nvSpPr>
        <p:spPr>
          <a:xfrm>
            <a:off x="550335" y="1468142"/>
            <a:ext cx="11490205" cy="4738262"/>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400" dirty="0">
                <a:solidFill>
                  <a:schemeClr val="tx1"/>
                </a:solidFill>
                <a:latin typeface="IBM Plex Sans"/>
              </a:rPr>
              <a:t>SpaceX has gained worldwide attention for a series of historic milestones.</a:t>
            </a:r>
          </a:p>
          <a:p>
            <a:r>
              <a:rPr lang="en-US" sz="1400" dirty="0">
                <a:solidFill>
                  <a:schemeClr val="tx1"/>
                </a:solidFill>
                <a:latin typeface="IBM Plex Sans"/>
              </a:rPr>
              <a:t>It is the only private company ever to return a spacecraft from low-earth orbit, which it first accomplished in December 2010. SpaceX advertises Falcon 9 rocket launches on its website with a cost of 62 million dollars </a:t>
            </a:r>
            <a:r>
              <a:rPr lang="en-US" sz="1400" dirty="0" err="1">
                <a:solidFill>
                  <a:schemeClr val="tx1"/>
                </a:solidFill>
                <a:latin typeface="IBM Plex Sans"/>
              </a:rPr>
              <a:t>wheras</a:t>
            </a:r>
            <a:r>
              <a:rPr lang="en-US" sz="1400" dirty="0">
                <a:solidFill>
                  <a:schemeClr val="tx1"/>
                </a:solidFill>
                <a:latin typeface="IBM Plex Sans"/>
              </a:rPr>
              <a:t> other providers cost upward of 165 million dollars each, much of the savings is because Space X can reuse the first stage.</a:t>
            </a:r>
          </a:p>
          <a:p>
            <a:r>
              <a:rPr lang="en-US" sz="1400" dirty="0">
                <a:solidFill>
                  <a:schemeClr val="tx1"/>
                </a:solidFill>
                <a:latin typeface="IBM Plex Sans"/>
              </a:rPr>
              <a:t>Therefore if we can determine if the first stage will land, we can determine the cost of a launch.</a:t>
            </a:r>
          </a:p>
          <a:p>
            <a:r>
              <a:rPr lang="en-US" sz="1400" dirty="0">
                <a:solidFill>
                  <a:schemeClr val="tx1"/>
                </a:solidFill>
                <a:latin typeface="IBM Plex Sans"/>
              </a:rPr>
              <a:t>This information can be used if an alternate company wants to bid against SpaceX for a rocket launch.</a:t>
            </a:r>
          </a:p>
          <a:p>
            <a:r>
              <a:rPr lang="en-US" sz="1400" dirty="0">
                <a:solidFill>
                  <a:schemeClr val="tx1"/>
                </a:solidFill>
                <a:latin typeface="IBM Plex Sans"/>
              </a:rPr>
              <a:t>This dataset includes a record for each payload carried during a SpaceX mission into outer space.</a:t>
            </a:r>
          </a:p>
          <a:p>
            <a:r>
              <a:rPr lang="en-US" sz="1400" dirty="0">
                <a:solidFill>
                  <a:schemeClr val="tx1"/>
                </a:solidFill>
                <a:latin typeface="IBM Plex Sans"/>
              </a:rPr>
              <a:t>In this capstone project, we will predict if the SpaceX Falcon 9 first stage will land successfully using several machine learning classification algorithms.</a:t>
            </a:r>
          </a:p>
          <a:p>
            <a:r>
              <a:rPr lang="en-US" sz="1400" dirty="0">
                <a:solidFill>
                  <a:schemeClr val="tx1"/>
                </a:solidFill>
                <a:latin typeface="IBM Plex Sans"/>
              </a:rPr>
              <a:t>The main steps in this project include:</a:t>
            </a:r>
          </a:p>
          <a:p>
            <a:r>
              <a:rPr lang="en-US" sz="1400" dirty="0">
                <a:solidFill>
                  <a:schemeClr val="tx1"/>
                </a:solidFill>
                <a:latin typeface="IBM Plex Sans"/>
              </a:rPr>
              <a:t>Data collection, wrangling, and formatting with working scenarios</a:t>
            </a:r>
          </a:p>
          <a:p>
            <a:r>
              <a:rPr lang="en-US" sz="1400" dirty="0">
                <a:solidFill>
                  <a:schemeClr val="tx1"/>
                </a:solidFill>
                <a:latin typeface="IBM Plex Sans"/>
              </a:rPr>
              <a:t>Exploratory data analysis </a:t>
            </a:r>
          </a:p>
          <a:p>
            <a:r>
              <a:rPr lang="en-US" sz="1400" dirty="0">
                <a:solidFill>
                  <a:schemeClr val="tx1"/>
                </a:solidFill>
                <a:latin typeface="IBM Plex Sans"/>
              </a:rPr>
              <a:t>Interactive data visualization</a:t>
            </a:r>
          </a:p>
          <a:p>
            <a:r>
              <a:rPr lang="en-US" sz="1400" dirty="0">
                <a:solidFill>
                  <a:schemeClr val="tx1"/>
                </a:solidFill>
                <a:latin typeface="IBM Plex Sans"/>
              </a:rPr>
              <a:t>Machine learning prediction</a:t>
            </a:r>
          </a:p>
          <a:p>
            <a:r>
              <a:rPr lang="en-US" sz="1400" dirty="0">
                <a:solidFill>
                  <a:schemeClr val="tx1"/>
                </a:solidFill>
                <a:latin typeface="IBM Plex Sans"/>
              </a:rPr>
              <a:t>Our graphs show that some features of the rocket launches have a correlation with the outcome of the launches, i.e., success or failure.</a:t>
            </a:r>
          </a:p>
          <a:p>
            <a:r>
              <a:rPr lang="en-US" sz="1400" dirty="0">
                <a:solidFill>
                  <a:schemeClr val="tx1"/>
                </a:solidFill>
                <a:latin typeface="IBM Plex Sans"/>
              </a:rPr>
              <a:t>It is also concluded that decision tree may be the best machine learning algorithm to predict if the Falcon 9 first stage will land successfully.</a:t>
            </a:r>
          </a:p>
          <a:p>
            <a:endParaRPr lang="en-US" sz="1400" dirty="0">
              <a:solidFill>
                <a:schemeClr val="tx1"/>
              </a:solidFill>
              <a:latin typeface="IBM Plex Sans"/>
            </a:endParaRPr>
          </a:p>
        </p:txBody>
      </p:sp>
    </p:spTree>
    <p:custDataLst>
      <p:tags r:id="rId1"/>
    </p:custDataLst>
    <p:extLst>
      <p:ext uri="{BB962C8B-B14F-4D97-AF65-F5344CB8AC3E}">
        <p14:creationId xmlns:p14="http://schemas.microsoft.com/office/powerpoint/2010/main" val="2165725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76FB0-8465-86A8-332A-32CC35A5D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B7DC8D-244C-F7EC-5F66-ACB99A7D61C9}"/>
              </a:ext>
            </a:extLst>
          </p:cNvPr>
          <p:cNvSpPr>
            <a:spLocks noGrp="1"/>
          </p:cNvSpPr>
          <p:nvPr>
            <p:ph type="title"/>
          </p:nvPr>
        </p:nvSpPr>
        <p:spPr>
          <a:xfrm>
            <a:off x="770021" y="365125"/>
            <a:ext cx="10799346" cy="1344377"/>
          </a:xfrm>
        </p:spPr>
        <p:txBody>
          <a:bodyPr anchor="ctr">
            <a:normAutofit/>
          </a:bodyPr>
          <a:lstStyle/>
          <a:p>
            <a:r>
              <a:rPr lang="en-US" dirty="0">
                <a:latin typeface="IBM Plex Sans SemiBold"/>
              </a:rPr>
              <a:t>INTRODUCTION: BUSINESS PROBLEM</a:t>
            </a:r>
            <a:endParaRPr lang="en-US" dirty="0"/>
          </a:p>
        </p:txBody>
      </p:sp>
      <p:sp>
        <p:nvSpPr>
          <p:cNvPr id="4" name="Content Placeholder 2">
            <a:extLst>
              <a:ext uri="{FF2B5EF4-FFF2-40B4-BE49-F238E27FC236}">
                <a16:creationId xmlns:a16="http://schemas.microsoft.com/office/drawing/2014/main" id="{ED35578F-30C9-4905-FD4E-7366FEFAEA7F}"/>
              </a:ext>
            </a:extLst>
          </p:cNvPr>
          <p:cNvSpPr txBox="1">
            <a:spLocks/>
          </p:cNvSpPr>
          <p:nvPr/>
        </p:nvSpPr>
        <p:spPr>
          <a:xfrm>
            <a:off x="747890" y="1430514"/>
            <a:ext cx="10681169" cy="4351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400" dirty="0">
                <a:solidFill>
                  <a:schemeClr val="tx1"/>
                </a:solidFill>
                <a:latin typeface="IBM Plex Sans"/>
              </a:rPr>
              <a:t>In this capstone, we will predict if the Falcon 9 first stage will land successfully.</a:t>
            </a:r>
          </a:p>
          <a:p>
            <a:r>
              <a:rPr lang="en-US" sz="1400" dirty="0">
                <a:solidFill>
                  <a:schemeClr val="tx1"/>
                </a:solidFill>
                <a:latin typeface="IBM Plex Sans"/>
              </a:rPr>
              <a:t>SpaceX advertises Falcon 9 rocket launches on its website with a cost of 62 million dollars; other providers cost upward of 165 million dollars each, much of the savings is because SpaceX can reuse the first stage. Therefore if we can determine if the first stage will land, we can determine the cost of a launch. This information can be used if an alternate company wants to bid against SpaceX for a rocket launch.</a:t>
            </a:r>
          </a:p>
          <a:p>
            <a:r>
              <a:rPr lang="en-US" sz="1400" dirty="0">
                <a:solidFill>
                  <a:schemeClr val="tx1"/>
                </a:solidFill>
                <a:latin typeface="IBM Plex Sans"/>
              </a:rPr>
              <a:t>Most unsuccessful landings are planned. Sometimes, SpaceX will perform a controlled landing in the ocean.</a:t>
            </a:r>
          </a:p>
          <a:p>
            <a:r>
              <a:rPr lang="en-US" sz="1400" dirty="0">
                <a:solidFill>
                  <a:schemeClr val="tx1"/>
                </a:solidFill>
                <a:latin typeface="IBM Plex Sans"/>
              </a:rPr>
              <a:t>The main question that we are trying to answer is, for a given set of features about a Falcon 9 rocket launch which include its payload mass, orbit type, launch site, and so on, will the first stage of the rocket land successfully?</a:t>
            </a:r>
          </a:p>
          <a:p>
            <a:r>
              <a:rPr lang="en-US" sz="1400" dirty="0">
                <a:solidFill>
                  <a:schemeClr val="tx1"/>
                </a:solidFill>
                <a:latin typeface="IBM Plex Sans"/>
              </a:rPr>
              <a:t>In the data set, there are several different cases where the booster did not land successfully. Sometimes a landing was attempted but failed due to an accident; for example, True Ocean means the mission outcome was successfully landed to a specific region of the ocean while False Ocean means the mission outcome was unsuccessfully landed to a specific region of the ocean. True RTLS means the mission outcome was successfully landed to a ground pad False RTLS means the mission outcome was unsuccessfully landed to a ground </a:t>
            </a:r>
            <a:r>
              <a:rPr lang="en-US" sz="1400" dirty="0" err="1">
                <a:solidFill>
                  <a:schemeClr val="tx1"/>
                </a:solidFill>
                <a:latin typeface="IBM Plex Sans"/>
              </a:rPr>
              <a:t>pad.True</a:t>
            </a:r>
            <a:r>
              <a:rPr lang="en-US" sz="1400" dirty="0">
                <a:solidFill>
                  <a:schemeClr val="tx1"/>
                </a:solidFill>
                <a:latin typeface="IBM Plex Sans"/>
              </a:rPr>
              <a:t> ASDS means the mission outcome was successfully landed on a drone ship False ASDS means the mission outcome was unsuccessfully landed on a drone ship.</a:t>
            </a:r>
          </a:p>
          <a:p>
            <a:r>
              <a:rPr lang="en-US" sz="1400" dirty="0">
                <a:solidFill>
                  <a:schemeClr val="tx1"/>
                </a:solidFill>
                <a:latin typeface="IBM Plex Sans"/>
              </a:rPr>
              <a:t>We will mainly convert those outcomes into Training Labels with 1 means the booster successfully landed 0 means it was unsuccessful.</a:t>
            </a:r>
          </a:p>
          <a:p>
            <a:endParaRPr lang="en-US" sz="1400" dirty="0">
              <a:solidFill>
                <a:schemeClr val="tx1"/>
              </a:solidFill>
              <a:latin typeface="IBM Plex Sans"/>
            </a:endParaRPr>
          </a:p>
          <a:p>
            <a:endParaRPr lang="en-US" sz="1400" dirty="0">
              <a:solidFill>
                <a:schemeClr val="tx1"/>
              </a:solidFill>
              <a:latin typeface="IBM Plex Sans"/>
            </a:endParaRPr>
          </a:p>
        </p:txBody>
      </p:sp>
    </p:spTree>
    <p:custDataLst>
      <p:tags r:id="rId1"/>
    </p:custDataLst>
    <p:extLst>
      <p:ext uri="{BB962C8B-B14F-4D97-AF65-F5344CB8AC3E}">
        <p14:creationId xmlns:p14="http://schemas.microsoft.com/office/powerpoint/2010/main" val="2040863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1DCFD-8450-17AD-05D4-229BA1C66C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5AB7E7-7534-10CB-A359-88015C285B97}"/>
              </a:ext>
            </a:extLst>
          </p:cNvPr>
          <p:cNvSpPr>
            <a:spLocks noGrp="1"/>
          </p:cNvSpPr>
          <p:nvPr>
            <p:ph type="title"/>
          </p:nvPr>
        </p:nvSpPr>
        <p:spPr>
          <a:xfrm>
            <a:off x="782053" y="376642"/>
            <a:ext cx="7230723" cy="1325563"/>
          </a:xfrm>
        </p:spPr>
        <p:txBody>
          <a:bodyPr anchor="ctr">
            <a:normAutofit/>
          </a:bodyPr>
          <a:lstStyle/>
          <a:p>
            <a:r>
              <a:rPr lang="en-US" dirty="0"/>
              <a:t>METHODOLOGY</a:t>
            </a:r>
          </a:p>
        </p:txBody>
      </p:sp>
      <p:sp>
        <p:nvSpPr>
          <p:cNvPr id="3" name="Content Placeholder 2">
            <a:extLst>
              <a:ext uri="{FF2B5EF4-FFF2-40B4-BE49-F238E27FC236}">
                <a16:creationId xmlns:a16="http://schemas.microsoft.com/office/drawing/2014/main" id="{5EF8C842-232A-AE37-3471-90353781809D}"/>
              </a:ext>
            </a:extLst>
          </p:cNvPr>
          <p:cNvSpPr txBox="1">
            <a:spLocks/>
          </p:cNvSpPr>
          <p:nvPr/>
        </p:nvSpPr>
        <p:spPr>
          <a:xfrm>
            <a:off x="4285075" y="1825625"/>
            <a:ext cx="7068725" cy="4351338"/>
          </a:xfrm>
          <a:prstGeom prst="rect">
            <a:avLst/>
          </a:prstGeom>
        </p:spPr>
        <p:txBody>
          <a:bodyPr vert="horz" lIns="91440" tIns="45720" rIns="91440" bIns="45720" rtlCol="0" anchor="t">
            <a:normAutofit fontScale="400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200" dirty="0">
                <a:latin typeface="IBM Plex Sans"/>
              </a:rPr>
              <a:t>The overall methodology includes:</a:t>
            </a:r>
            <a:endParaRPr lang="en-US" dirty="0"/>
          </a:p>
          <a:p>
            <a:r>
              <a:rPr lang="en-US" sz="2200" b="1" dirty="0">
                <a:latin typeface="IBM Plex Sans"/>
              </a:rPr>
              <a:t>1. Data collection, wrangling, and formatting, using:</a:t>
            </a:r>
            <a:endParaRPr lang="en-US" b="1"/>
          </a:p>
          <a:p>
            <a:r>
              <a:rPr lang="en-US" sz="2200" dirty="0">
                <a:latin typeface="IBM Plex Sans"/>
              </a:rPr>
              <a:t>• SpaceX API</a:t>
            </a:r>
            <a:endParaRPr lang="en-US"/>
          </a:p>
          <a:p>
            <a:r>
              <a:rPr lang="en-US" sz="2200" dirty="0">
                <a:latin typeface="IBM Plex Sans"/>
              </a:rPr>
              <a:t>• Web scraping</a:t>
            </a:r>
            <a:endParaRPr lang="en-US"/>
          </a:p>
          <a:p>
            <a:r>
              <a:rPr lang="en-US" sz="2200" b="1" dirty="0">
                <a:latin typeface="IBM Plex Sans"/>
              </a:rPr>
              <a:t>2. Exploratory data analysis (EDA), using:</a:t>
            </a:r>
            <a:endParaRPr lang="en-US" b="1"/>
          </a:p>
          <a:p>
            <a:r>
              <a:rPr lang="en-US" sz="2200" dirty="0">
                <a:latin typeface="IBM Plex Sans"/>
              </a:rPr>
              <a:t>• Pandas and NumPy</a:t>
            </a:r>
            <a:endParaRPr lang="en-US" dirty="0"/>
          </a:p>
          <a:p>
            <a:r>
              <a:rPr lang="en-US" sz="2200" dirty="0">
                <a:latin typeface="IBM Plex Sans"/>
              </a:rPr>
              <a:t>• SQL</a:t>
            </a:r>
            <a:endParaRPr lang="en-US"/>
          </a:p>
          <a:p>
            <a:r>
              <a:rPr lang="en-US" sz="2200" b="1" dirty="0">
                <a:latin typeface="IBM Plex Sans"/>
              </a:rPr>
              <a:t>3. Data visualization, using:</a:t>
            </a:r>
            <a:endParaRPr lang="en-US" b="1"/>
          </a:p>
          <a:p>
            <a:r>
              <a:rPr lang="en-US" sz="2200" dirty="0">
                <a:latin typeface="IBM Plex Sans"/>
              </a:rPr>
              <a:t>• Matplotlib and Seaborn</a:t>
            </a:r>
            <a:endParaRPr lang="en-US" dirty="0"/>
          </a:p>
          <a:p>
            <a:r>
              <a:rPr lang="en-US" sz="2200" dirty="0">
                <a:latin typeface="IBM Plex Sans"/>
              </a:rPr>
              <a:t>• Folium</a:t>
            </a:r>
            <a:endParaRPr lang="en-US"/>
          </a:p>
          <a:p>
            <a:r>
              <a:rPr lang="en-US" sz="2200" dirty="0">
                <a:latin typeface="IBM Plex Sans"/>
              </a:rPr>
              <a:t>• Dash</a:t>
            </a:r>
            <a:endParaRPr lang="en-US"/>
          </a:p>
          <a:p>
            <a:r>
              <a:rPr lang="en-US" sz="2200" b="1" dirty="0">
                <a:latin typeface="IBM Plex Sans"/>
              </a:rPr>
              <a:t>4. Machine learning prediction, using</a:t>
            </a:r>
            <a:endParaRPr lang="en-US" b="1"/>
          </a:p>
          <a:p>
            <a:r>
              <a:rPr lang="en-US" sz="2200" dirty="0">
                <a:latin typeface="IBM Plex Sans"/>
              </a:rPr>
              <a:t>• Logistic regression</a:t>
            </a:r>
            <a:endParaRPr lang="en-US"/>
          </a:p>
          <a:p>
            <a:r>
              <a:rPr lang="en-US" sz="2200" dirty="0">
                <a:latin typeface="IBM Plex Sans"/>
              </a:rPr>
              <a:t>• Support vector machine (SVM)</a:t>
            </a:r>
            <a:endParaRPr lang="en-US" dirty="0"/>
          </a:p>
          <a:p>
            <a:r>
              <a:rPr lang="en-US" sz="2200" dirty="0">
                <a:latin typeface="IBM Plex Sans"/>
              </a:rPr>
              <a:t>• Decision tree</a:t>
            </a:r>
            <a:endParaRPr lang="en-US"/>
          </a:p>
          <a:p>
            <a:r>
              <a:rPr lang="en-US" sz="2200" dirty="0">
                <a:latin typeface="IBM Plex Sans"/>
              </a:rPr>
              <a:t>• K-nearest neighbors (KNN)</a:t>
            </a:r>
          </a:p>
          <a:p>
            <a:r>
              <a:rPr lang="en-US" sz="2200" b="1" dirty="0">
                <a:latin typeface="IBM Plex Sans"/>
              </a:rPr>
              <a:t>5. Data Visualization</a:t>
            </a:r>
          </a:p>
          <a:p>
            <a:r>
              <a:rPr lang="en-US" sz="2200" b="1" dirty="0">
                <a:latin typeface="IBM Plex Sans"/>
              </a:rPr>
              <a:t>6. Model Development</a:t>
            </a:r>
          </a:p>
          <a:p>
            <a:r>
              <a:rPr lang="en-US" sz="2200" b="1" dirty="0">
                <a:latin typeface="IBM Plex Sans"/>
              </a:rPr>
              <a:t>7.Reporting Results to Stakeholders</a:t>
            </a:r>
            <a:endParaRPr lang="en-US" sz="2200" b="1" dirty="0"/>
          </a:p>
        </p:txBody>
      </p:sp>
      <p:pic>
        <p:nvPicPr>
          <p:cNvPr id="4" name="Picture 3">
            <a:extLst>
              <a:ext uri="{FF2B5EF4-FFF2-40B4-BE49-F238E27FC236}">
                <a16:creationId xmlns:a16="http://schemas.microsoft.com/office/drawing/2014/main" id="{280CF71F-8A03-DAC7-4BC2-F05644ECBFFF}"/>
              </a:ext>
            </a:extLst>
          </p:cNvPr>
          <p:cNvPicPr>
            <a:picLocks noChangeAspect="1"/>
          </p:cNvPicPr>
          <p:nvPr/>
        </p:nvPicPr>
        <p:blipFill>
          <a:blip r:embed="rId3"/>
          <a:stretch>
            <a:fillRect/>
          </a:stretch>
        </p:blipFill>
        <p:spPr>
          <a:xfrm>
            <a:off x="979655" y="1831709"/>
            <a:ext cx="3194581" cy="3194581"/>
          </a:xfrm>
          <a:prstGeom prst="rect">
            <a:avLst/>
          </a:prstGeom>
        </p:spPr>
      </p:pic>
    </p:spTree>
    <p:custDataLst>
      <p:tags r:id="rId1"/>
    </p:custDataLst>
    <p:extLst>
      <p:ext uri="{BB962C8B-B14F-4D97-AF65-F5344CB8AC3E}">
        <p14:creationId xmlns:p14="http://schemas.microsoft.com/office/powerpoint/2010/main" val="3791692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C4685-A097-EF73-AD46-2B63736CF0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2AF141-3844-173A-4638-B9E498CB536C}"/>
              </a:ext>
            </a:extLst>
          </p:cNvPr>
          <p:cNvSpPr>
            <a:spLocks noGrp="1"/>
          </p:cNvSpPr>
          <p:nvPr>
            <p:ph type="title"/>
          </p:nvPr>
        </p:nvSpPr>
        <p:spPr>
          <a:xfrm>
            <a:off x="782053" y="376642"/>
            <a:ext cx="11021907" cy="1334970"/>
          </a:xfrm>
        </p:spPr>
        <p:txBody>
          <a:bodyPr anchor="ctr">
            <a:normAutofit/>
          </a:bodyPr>
          <a:lstStyle/>
          <a:p>
            <a:r>
              <a:rPr lang="en-US" dirty="0">
                <a:latin typeface="IBM Plex Sans SemiBold"/>
              </a:rPr>
              <a:t>METHODOLOGY (</a:t>
            </a:r>
            <a:r>
              <a:rPr lang="en-US" sz="2400" dirty="0">
                <a:latin typeface="IBM Plex Sans SemiBold"/>
              </a:rPr>
              <a:t>Data Collection, Data Wrangling, Formatting</a:t>
            </a:r>
            <a:r>
              <a:rPr lang="en-US" dirty="0">
                <a:latin typeface="IBM Plex Sans SemiBold"/>
              </a:rPr>
              <a:t>)</a:t>
            </a:r>
            <a:endParaRPr lang="en-US" dirty="0"/>
          </a:p>
        </p:txBody>
      </p:sp>
      <p:sp>
        <p:nvSpPr>
          <p:cNvPr id="3" name="Content Placeholder 2">
            <a:extLst>
              <a:ext uri="{FF2B5EF4-FFF2-40B4-BE49-F238E27FC236}">
                <a16:creationId xmlns:a16="http://schemas.microsoft.com/office/drawing/2014/main" id="{2BE27FE3-EA80-55D2-0FC2-9FC17E973C48}"/>
              </a:ext>
            </a:extLst>
          </p:cNvPr>
          <p:cNvSpPr txBox="1">
            <a:spLocks/>
          </p:cNvSpPr>
          <p:nvPr/>
        </p:nvSpPr>
        <p:spPr>
          <a:xfrm>
            <a:off x="4285075" y="1835785"/>
            <a:ext cx="7068725" cy="2444646"/>
          </a:xfrm>
          <a:prstGeom prst="rect">
            <a:avLst/>
          </a:prstGeom>
        </p:spPr>
        <p:txBody>
          <a:bodyPr vert="horz" lIns="91440" tIns="45720" rIns="91440" bIns="45720" rtlCol="0" anchor="t">
            <a:normAutofit fontScale="550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200" dirty="0">
                <a:latin typeface="IBM Plex Sans"/>
              </a:rPr>
              <a:t>SpaceX API</a:t>
            </a:r>
          </a:p>
          <a:p>
            <a:r>
              <a:rPr lang="en-US" sz="2200" dirty="0">
                <a:latin typeface="IBM Plex Sans"/>
              </a:rPr>
              <a:t>The API used is </a:t>
            </a:r>
            <a:r>
              <a:rPr lang="en-US" sz="2200" dirty="0">
                <a:solidFill>
                  <a:schemeClr val="accent2">
                    <a:lumMod val="49000"/>
                  </a:schemeClr>
                </a:solidFill>
                <a:latin typeface="IBM Plex Sans"/>
                <a:hlinkClick r:id="rId3">
                  <a:extLst>
                    <a:ext uri="{A12FA001-AC4F-418D-AE19-62706E023703}">
                      <ahyp:hlinkClr xmlns:ahyp="http://schemas.microsoft.com/office/drawing/2018/hyperlinkcolor" val="tx"/>
                    </a:ext>
                  </a:extLst>
                </a:hlinkClick>
              </a:rPr>
              <a:t>https://api.spacexdata.com/v4/rockets/</a:t>
            </a:r>
            <a:r>
              <a:rPr lang="en-US" sz="2200" dirty="0">
                <a:solidFill>
                  <a:schemeClr val="accent2">
                    <a:lumMod val="49000"/>
                  </a:schemeClr>
                </a:solidFill>
                <a:latin typeface="IBM Plex Sans"/>
              </a:rPr>
              <a:t>.</a:t>
            </a:r>
            <a:endParaRPr lang="en-US">
              <a:solidFill>
                <a:schemeClr val="accent2">
                  <a:lumMod val="49000"/>
                </a:schemeClr>
              </a:solidFill>
              <a:latin typeface="IBM Plex Sans"/>
            </a:endParaRPr>
          </a:p>
          <a:p>
            <a:r>
              <a:rPr lang="en-US" sz="2200" dirty="0">
                <a:latin typeface="IBM Plex Sans"/>
              </a:rPr>
              <a:t>The API provides data about many types of rocket launches done by SpaceX, the data is</a:t>
            </a:r>
            <a:endParaRPr lang="en-US" dirty="0">
              <a:latin typeface="IBM Plex Sans"/>
            </a:endParaRPr>
          </a:p>
          <a:p>
            <a:pPr marL="0" indent="0">
              <a:buNone/>
            </a:pPr>
            <a:r>
              <a:rPr lang="en-US" sz="2200" dirty="0">
                <a:latin typeface="IBM Plex Sans"/>
              </a:rPr>
              <a:t>therefore filtered to include only Falcon 9 launches.</a:t>
            </a:r>
            <a:endParaRPr lang="en-US" dirty="0">
              <a:latin typeface="IBM Plex Sans"/>
            </a:endParaRPr>
          </a:p>
          <a:p>
            <a:r>
              <a:rPr lang="en-US" sz="2200" dirty="0">
                <a:latin typeface="IBM Plex Sans"/>
              </a:rPr>
              <a:t> Every missing value in the data is replaced the mean the column that the missing value</a:t>
            </a:r>
            <a:endParaRPr lang="en-US" dirty="0">
              <a:latin typeface="IBM Plex Sans"/>
            </a:endParaRPr>
          </a:p>
          <a:p>
            <a:pPr marL="0" indent="0">
              <a:buNone/>
            </a:pPr>
            <a:r>
              <a:rPr lang="en-US" sz="2200" dirty="0">
                <a:latin typeface="IBM Plex Sans"/>
              </a:rPr>
              <a:t>belongs to.</a:t>
            </a:r>
            <a:endParaRPr lang="en-US" dirty="0">
              <a:latin typeface="IBM Plex Sans"/>
            </a:endParaRPr>
          </a:p>
          <a:p>
            <a:r>
              <a:rPr lang="en-US" sz="2200" dirty="0">
                <a:latin typeface="IBM Plex Sans"/>
              </a:rPr>
              <a:t> We end up with 90 rows or instances and 17 columns or features. The picture below shows</a:t>
            </a:r>
            <a:endParaRPr lang="en-US" dirty="0">
              <a:latin typeface="IBM Plex Sans"/>
            </a:endParaRPr>
          </a:p>
          <a:p>
            <a:pPr marL="0" indent="0">
              <a:buNone/>
            </a:pPr>
            <a:r>
              <a:rPr lang="en-US" sz="2200" dirty="0">
                <a:latin typeface="IBM Plex Sans"/>
              </a:rPr>
              <a:t>the first few rows of the data:</a:t>
            </a:r>
            <a:endParaRPr lang="en-US" dirty="0">
              <a:latin typeface="IBM Plex Sans"/>
            </a:endParaRPr>
          </a:p>
          <a:p>
            <a:pPr marL="0" indent="0">
              <a:buNone/>
            </a:pPr>
            <a:endParaRPr lang="en-US" sz="2200" dirty="0"/>
          </a:p>
        </p:txBody>
      </p:sp>
      <p:pic>
        <p:nvPicPr>
          <p:cNvPr id="4" name="Picture 3">
            <a:extLst>
              <a:ext uri="{FF2B5EF4-FFF2-40B4-BE49-F238E27FC236}">
                <a16:creationId xmlns:a16="http://schemas.microsoft.com/office/drawing/2014/main" id="{20365318-39FF-76DF-A94A-0CD48569DA64}"/>
              </a:ext>
            </a:extLst>
          </p:cNvPr>
          <p:cNvPicPr>
            <a:picLocks noChangeAspect="1"/>
          </p:cNvPicPr>
          <p:nvPr/>
        </p:nvPicPr>
        <p:blipFill>
          <a:blip r:embed="rId4"/>
          <a:stretch>
            <a:fillRect/>
          </a:stretch>
        </p:blipFill>
        <p:spPr>
          <a:xfrm>
            <a:off x="979655" y="1831709"/>
            <a:ext cx="3194581" cy="3194581"/>
          </a:xfrm>
          <a:prstGeom prst="rect">
            <a:avLst/>
          </a:prstGeom>
        </p:spPr>
      </p:pic>
      <p:pic>
        <p:nvPicPr>
          <p:cNvPr id="5" name="Picture 4" descr="A table with black text&#10;&#10;AI-generated content may be incorrect.">
            <a:extLst>
              <a:ext uri="{FF2B5EF4-FFF2-40B4-BE49-F238E27FC236}">
                <a16:creationId xmlns:a16="http://schemas.microsoft.com/office/drawing/2014/main" id="{E730621C-DA10-C5A1-5BF4-7CB2E2A0AE70}"/>
              </a:ext>
            </a:extLst>
          </p:cNvPr>
          <p:cNvPicPr>
            <a:picLocks noChangeAspect="1"/>
          </p:cNvPicPr>
          <p:nvPr/>
        </p:nvPicPr>
        <p:blipFill>
          <a:blip r:embed="rId5"/>
          <a:stretch>
            <a:fillRect/>
          </a:stretch>
        </p:blipFill>
        <p:spPr>
          <a:xfrm>
            <a:off x="0" y="4282171"/>
            <a:ext cx="12192000" cy="2037806"/>
          </a:xfrm>
          <a:prstGeom prst="rect">
            <a:avLst/>
          </a:prstGeom>
        </p:spPr>
      </p:pic>
    </p:spTree>
    <p:custDataLst>
      <p:tags r:id="rId1"/>
    </p:custDataLst>
    <p:extLst>
      <p:ext uri="{BB962C8B-B14F-4D97-AF65-F5344CB8AC3E}">
        <p14:creationId xmlns:p14="http://schemas.microsoft.com/office/powerpoint/2010/main" val="9002860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4C846-F1C9-C31C-807F-7AB5183DE6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97DBBF-2AAF-BD7D-226F-0A762F38008C}"/>
              </a:ext>
            </a:extLst>
          </p:cNvPr>
          <p:cNvSpPr>
            <a:spLocks noGrp="1"/>
          </p:cNvSpPr>
          <p:nvPr>
            <p:ph type="title"/>
          </p:nvPr>
        </p:nvSpPr>
        <p:spPr>
          <a:xfrm>
            <a:off x="782053" y="376642"/>
            <a:ext cx="11021907" cy="1334970"/>
          </a:xfrm>
        </p:spPr>
        <p:txBody>
          <a:bodyPr anchor="ctr">
            <a:normAutofit/>
          </a:bodyPr>
          <a:lstStyle/>
          <a:p>
            <a:r>
              <a:rPr lang="en-US" dirty="0">
                <a:latin typeface="IBM Plex Sans SemiBold"/>
              </a:rPr>
              <a:t>METHODOLOGY (</a:t>
            </a:r>
            <a:r>
              <a:rPr lang="en-US" sz="2400" dirty="0">
                <a:latin typeface="IBM Plex Sans SemiBold"/>
              </a:rPr>
              <a:t>Data Collection, Data Wrangling, Formatting</a:t>
            </a:r>
            <a:r>
              <a:rPr lang="en-US" dirty="0">
                <a:latin typeface="IBM Plex Sans SemiBold"/>
              </a:rPr>
              <a:t>)</a:t>
            </a:r>
            <a:endParaRPr lang="en-US" dirty="0"/>
          </a:p>
        </p:txBody>
      </p:sp>
      <p:sp>
        <p:nvSpPr>
          <p:cNvPr id="3" name="Content Placeholder 2">
            <a:extLst>
              <a:ext uri="{FF2B5EF4-FFF2-40B4-BE49-F238E27FC236}">
                <a16:creationId xmlns:a16="http://schemas.microsoft.com/office/drawing/2014/main" id="{F37B84AB-CF7A-891F-9A00-E10F88578523}"/>
              </a:ext>
            </a:extLst>
          </p:cNvPr>
          <p:cNvSpPr txBox="1">
            <a:spLocks/>
          </p:cNvSpPr>
          <p:nvPr/>
        </p:nvSpPr>
        <p:spPr>
          <a:xfrm>
            <a:off x="4341519" y="1543403"/>
            <a:ext cx="7068725" cy="2705043"/>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1400" b="1" dirty="0">
                <a:latin typeface="IBM Plex Sans"/>
              </a:rPr>
              <a:t>Web scraping</a:t>
            </a:r>
            <a:endParaRPr lang="en-US" b="1"/>
          </a:p>
          <a:p>
            <a:r>
              <a:rPr lang="en-US" sz="1400" dirty="0">
                <a:latin typeface="IBM Plex Sans"/>
              </a:rPr>
              <a:t>The data is scraped from Wiki</a:t>
            </a:r>
          </a:p>
          <a:p>
            <a:r>
              <a:rPr lang="en-US" sz="1200" dirty="0">
                <a:solidFill>
                  <a:schemeClr val="accent2">
                    <a:lumMod val="49000"/>
                  </a:schemeClr>
                </a:solidFill>
                <a:latin typeface="IBM Plex Sans"/>
                <a:hlinkClick r:id="rId3">
                  <a:extLst>
                    <a:ext uri="{A12FA001-AC4F-418D-AE19-62706E023703}">
                      <ahyp:hlinkClr xmlns:ahyp="http://schemas.microsoft.com/office/drawing/2018/hyperlinkcolor" val="tx"/>
                    </a:ext>
                  </a:extLst>
                </a:hlinkClick>
              </a:rPr>
              <a:t>https://en.wikipedia.org/wiki/List_of_Falcon_9_and_Falcon_Heavy_launches</a:t>
            </a:r>
            <a:endParaRPr lang="en-US" sz="1200">
              <a:solidFill>
                <a:schemeClr val="accent2">
                  <a:lumMod val="49000"/>
                </a:schemeClr>
              </a:solidFill>
              <a:latin typeface="IBM Plex Sans"/>
              <a:hlinkClick r:id="rId3">
                <a:extLst>
                  <a:ext uri="{A12FA001-AC4F-418D-AE19-62706E023703}">
                    <ahyp:hlinkClr xmlns:ahyp="http://schemas.microsoft.com/office/drawing/2018/hyperlinkcolor" val="tx"/>
                  </a:ext>
                </a:extLst>
              </a:hlinkClick>
            </a:endParaRPr>
          </a:p>
          <a:p>
            <a:r>
              <a:rPr lang="en-US" sz="1400" dirty="0">
                <a:latin typeface="IBM Plex Sans"/>
              </a:rPr>
              <a:t>To keep the lab tasks consistent, you will be asked to scrape the data from a snapshot of the  `List of Falcon 9 and Falcon Heavy launches` </a:t>
            </a:r>
            <a:r>
              <a:rPr lang="en-US" sz="1400" dirty="0" err="1">
                <a:latin typeface="IBM Plex Sans"/>
              </a:rPr>
              <a:t>Wikipage</a:t>
            </a:r>
            <a:r>
              <a:rPr lang="en-US" sz="1400" dirty="0">
                <a:latin typeface="IBM Plex Sans"/>
              </a:rPr>
              <a:t> updated on</a:t>
            </a:r>
          </a:p>
          <a:p>
            <a:pPr marL="0" indent="0">
              <a:buNone/>
            </a:pPr>
            <a:r>
              <a:rPr lang="en-US" sz="1400" dirty="0">
                <a:latin typeface="IBM Plex Sans"/>
              </a:rPr>
              <a:t>`9th June 2021`</a:t>
            </a:r>
          </a:p>
          <a:p>
            <a:r>
              <a:rPr lang="en-US" sz="1400" dirty="0">
                <a:latin typeface="IBM Plex Sans"/>
              </a:rPr>
              <a:t>Extract a Falcon 9 launch records HTML table from Wikipedia</a:t>
            </a:r>
          </a:p>
          <a:p>
            <a:r>
              <a:rPr lang="en-US" sz="1400" dirty="0">
                <a:latin typeface="IBM Plex Sans"/>
              </a:rPr>
              <a:t>Parse the table and convert it into a Pandas data frame</a:t>
            </a:r>
          </a:p>
          <a:p>
            <a:r>
              <a:rPr lang="en-US" sz="1400" dirty="0">
                <a:latin typeface="IBM Plex Sans"/>
              </a:rPr>
              <a:t>the first few rows of the data:</a:t>
            </a:r>
          </a:p>
        </p:txBody>
      </p:sp>
      <p:pic>
        <p:nvPicPr>
          <p:cNvPr id="4" name="Picture 3">
            <a:extLst>
              <a:ext uri="{FF2B5EF4-FFF2-40B4-BE49-F238E27FC236}">
                <a16:creationId xmlns:a16="http://schemas.microsoft.com/office/drawing/2014/main" id="{E1081B84-6841-A30F-BEBF-B2A13F5C9923}"/>
              </a:ext>
            </a:extLst>
          </p:cNvPr>
          <p:cNvPicPr>
            <a:picLocks noChangeAspect="1"/>
          </p:cNvPicPr>
          <p:nvPr/>
        </p:nvPicPr>
        <p:blipFill>
          <a:blip r:embed="rId4"/>
          <a:stretch>
            <a:fillRect/>
          </a:stretch>
        </p:blipFill>
        <p:spPr>
          <a:xfrm>
            <a:off x="979655" y="1831709"/>
            <a:ext cx="3194581" cy="3194581"/>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3F1BEDD4-37F2-3958-3214-EB5B02600110}"/>
              </a:ext>
            </a:extLst>
          </p:cNvPr>
          <p:cNvPicPr>
            <a:picLocks noChangeAspect="1"/>
          </p:cNvPicPr>
          <p:nvPr/>
        </p:nvPicPr>
        <p:blipFill>
          <a:blip r:embed="rId5"/>
          <a:stretch>
            <a:fillRect/>
          </a:stretch>
        </p:blipFill>
        <p:spPr>
          <a:xfrm>
            <a:off x="0" y="4355404"/>
            <a:ext cx="12192000" cy="1872526"/>
          </a:xfrm>
          <a:prstGeom prst="rect">
            <a:avLst/>
          </a:prstGeom>
        </p:spPr>
      </p:pic>
    </p:spTree>
    <p:custDataLst>
      <p:tags r:id="rId1"/>
    </p:custDataLst>
    <p:extLst>
      <p:ext uri="{BB962C8B-B14F-4D97-AF65-F5344CB8AC3E}">
        <p14:creationId xmlns:p14="http://schemas.microsoft.com/office/powerpoint/2010/main" val="14334404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75B10-54E1-EE94-EB6A-9CE57D55EE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1ECDDA-80C1-7211-F2FA-C91B2A85B30D}"/>
              </a:ext>
            </a:extLst>
          </p:cNvPr>
          <p:cNvSpPr>
            <a:spLocks noGrp="1"/>
          </p:cNvSpPr>
          <p:nvPr>
            <p:ph type="title"/>
          </p:nvPr>
        </p:nvSpPr>
        <p:spPr>
          <a:xfrm>
            <a:off x="782053" y="376642"/>
            <a:ext cx="11021907" cy="1334970"/>
          </a:xfrm>
        </p:spPr>
        <p:txBody>
          <a:bodyPr anchor="ctr">
            <a:normAutofit/>
          </a:bodyPr>
          <a:lstStyle/>
          <a:p>
            <a:r>
              <a:rPr lang="en-US" dirty="0">
                <a:latin typeface="IBM Plex Sans SemiBold"/>
              </a:rPr>
              <a:t>METHODOLOGY (</a:t>
            </a:r>
            <a:r>
              <a:rPr lang="en-US" sz="2400" dirty="0">
                <a:latin typeface="IBM Plex Sans SemiBold"/>
              </a:rPr>
              <a:t>Data Collection, Data Wrangling, Formatting</a:t>
            </a:r>
            <a:r>
              <a:rPr lang="en-US" dirty="0">
                <a:latin typeface="IBM Plex Sans SemiBold"/>
              </a:rPr>
              <a:t>)</a:t>
            </a:r>
            <a:endParaRPr lang="en-US" dirty="0"/>
          </a:p>
        </p:txBody>
      </p:sp>
      <p:sp>
        <p:nvSpPr>
          <p:cNvPr id="3" name="Content Placeholder 2">
            <a:extLst>
              <a:ext uri="{FF2B5EF4-FFF2-40B4-BE49-F238E27FC236}">
                <a16:creationId xmlns:a16="http://schemas.microsoft.com/office/drawing/2014/main" id="{132B234B-0E83-A712-ABF2-0EAC6E24C97B}"/>
              </a:ext>
            </a:extLst>
          </p:cNvPr>
          <p:cNvSpPr txBox="1">
            <a:spLocks/>
          </p:cNvSpPr>
          <p:nvPr/>
        </p:nvSpPr>
        <p:spPr>
          <a:xfrm>
            <a:off x="4341519" y="1543403"/>
            <a:ext cx="7068725" cy="474720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1400" b="1" dirty="0">
                <a:latin typeface="IBM Plex Sans"/>
              </a:rPr>
              <a:t>The data is later processed so that there are no missing entries and categorical</a:t>
            </a:r>
            <a:endParaRPr lang="en-US" sz="1400">
              <a:latin typeface="IBM Plex Sans"/>
            </a:endParaRPr>
          </a:p>
          <a:p>
            <a:pPr marL="0" indent="0">
              <a:buNone/>
            </a:pPr>
            <a:r>
              <a:rPr lang="en-US" sz="1400" b="1" dirty="0">
                <a:latin typeface="IBM Plex Sans"/>
              </a:rPr>
              <a:t>features are encoded using one-hot encoding.</a:t>
            </a:r>
            <a:endParaRPr lang="en-US" sz="1400">
              <a:latin typeface="IBM Plex Sans"/>
            </a:endParaRPr>
          </a:p>
          <a:p>
            <a:r>
              <a:rPr lang="en-US" sz="1400" dirty="0">
                <a:latin typeface="IBM Plex Sans"/>
              </a:rPr>
              <a:t>An extra column called ‘Class’ is also added to the data frame. The column ‘Class’</a:t>
            </a:r>
            <a:endParaRPr lang="en-US" sz="1400">
              <a:latin typeface="IBM Plex Sans"/>
            </a:endParaRPr>
          </a:p>
          <a:p>
            <a:r>
              <a:rPr lang="en-US" sz="1400" dirty="0">
                <a:latin typeface="IBM Plex Sans"/>
              </a:rPr>
              <a:t>contains 0 if a given launch is failed and 1 if it is successful.</a:t>
            </a:r>
            <a:endParaRPr lang="en-US" sz="1400">
              <a:latin typeface="IBM Plex Sans"/>
            </a:endParaRPr>
          </a:p>
          <a:p>
            <a:r>
              <a:rPr lang="en-US" sz="1400" dirty="0">
                <a:latin typeface="IBM Plex Sans"/>
              </a:rPr>
              <a:t>In the end, we end up with 90 rows or instances and 83 columns or features.</a:t>
            </a:r>
            <a:endParaRPr lang="en-US" sz="1400">
              <a:latin typeface="IBM Plex Sans"/>
            </a:endParaRPr>
          </a:p>
          <a:p>
            <a:r>
              <a:rPr lang="en-US" sz="1400">
                <a:solidFill>
                  <a:schemeClr val="tx1"/>
                </a:solidFill>
                <a:latin typeface="IBM Plex Sans"/>
              </a:rPr>
              <a:t>We should see the response contains massive information about SpaceX launches.  From the rocket we would like to learn the booster name</a:t>
            </a:r>
            <a:endParaRPr lang="en-US" sz="1400" dirty="0">
              <a:solidFill>
                <a:schemeClr val="tx1"/>
              </a:solidFill>
              <a:latin typeface="IBM Plex Sans"/>
            </a:endParaRPr>
          </a:p>
          <a:p>
            <a:r>
              <a:rPr lang="en-US" sz="1400">
                <a:solidFill>
                  <a:schemeClr val="tx1"/>
                </a:solidFill>
                <a:latin typeface="IBM Plex Sans"/>
              </a:rPr>
              <a:t>From the payload we would like to learn the mass of the payload and the orbit that it is going to.</a:t>
            </a:r>
            <a:endParaRPr lang="en-US" sz="1400" dirty="0">
              <a:solidFill>
                <a:schemeClr val="tx1"/>
              </a:solidFill>
              <a:latin typeface="IBM Plex Sans"/>
            </a:endParaRPr>
          </a:p>
          <a:p>
            <a:r>
              <a:rPr lang="en-US" sz="1400">
                <a:solidFill>
                  <a:schemeClr val="tx1"/>
                </a:solidFill>
                <a:latin typeface="IBM Plex Sans"/>
              </a:rPr>
              <a:t>From the launchpad we would like to know the name of the launch site being used, the longitude, and the latitude.</a:t>
            </a:r>
            <a:endParaRPr lang="en-US" sz="1400" dirty="0">
              <a:solidFill>
                <a:schemeClr val="tx1"/>
              </a:solidFill>
              <a:latin typeface="IBM Plex Sans"/>
            </a:endParaRPr>
          </a:p>
          <a:p>
            <a:r>
              <a:rPr lang="en-US" sz="1400" dirty="0">
                <a:solidFill>
                  <a:schemeClr val="tx1"/>
                </a:solidFill>
                <a:latin typeface="IBM Plex Sans"/>
              </a:rPr>
              <a:t>From cores we would like to learn the outcome of the landing, the type of the landing, number of flights with that core, whether </a:t>
            </a:r>
            <a:r>
              <a:rPr lang="en-US" sz="1400" dirty="0" err="1">
                <a:solidFill>
                  <a:schemeClr val="tx1"/>
                </a:solidFill>
                <a:latin typeface="IBM Plex Sans"/>
              </a:rPr>
              <a:t>gridfins</a:t>
            </a:r>
            <a:r>
              <a:rPr lang="en-US" sz="1400" dirty="0">
                <a:solidFill>
                  <a:schemeClr val="tx1"/>
                </a:solidFill>
                <a:latin typeface="IBM Plex Sans"/>
              </a:rPr>
              <a:t> were used, whether the core is reused, whether legs were used, the landing pad used, the block of the core which is a number used to </a:t>
            </a:r>
            <a:r>
              <a:rPr lang="en-US" sz="1400" dirty="0" err="1">
                <a:solidFill>
                  <a:schemeClr val="tx1"/>
                </a:solidFill>
                <a:latin typeface="IBM Plex Sans"/>
              </a:rPr>
              <a:t>seperate</a:t>
            </a:r>
            <a:r>
              <a:rPr lang="en-US" sz="1400" dirty="0">
                <a:solidFill>
                  <a:schemeClr val="tx1"/>
                </a:solidFill>
                <a:latin typeface="IBM Plex Sans"/>
              </a:rPr>
              <a:t> version of cores, the number of times this specific core has been reused, and the serial of the core.</a:t>
            </a:r>
          </a:p>
          <a:p>
            <a:r>
              <a:rPr lang="en-US" sz="1400" dirty="0">
                <a:solidFill>
                  <a:schemeClr val="tx1"/>
                </a:solidFill>
                <a:latin typeface="IBM Plex Sans"/>
              </a:rPr>
              <a:t>The data from these requests will be stored in lists and will be used to create a new </a:t>
            </a:r>
            <a:r>
              <a:rPr lang="en-US" sz="1400" dirty="0" err="1">
                <a:solidFill>
                  <a:schemeClr val="tx1"/>
                </a:solidFill>
                <a:latin typeface="IBM Plex Sans"/>
              </a:rPr>
              <a:t>dataframe</a:t>
            </a:r>
            <a:r>
              <a:rPr lang="en-US" sz="1400" dirty="0">
                <a:solidFill>
                  <a:schemeClr val="tx1"/>
                </a:solidFill>
                <a:latin typeface="IBM Plex Sans"/>
              </a:rPr>
              <a:t>.</a:t>
            </a:r>
          </a:p>
          <a:p>
            <a:endParaRPr lang="en-US" sz="1400" dirty="0">
              <a:latin typeface="IBM Plex Sans"/>
            </a:endParaRPr>
          </a:p>
          <a:p>
            <a:pPr marL="0" indent="0">
              <a:buNone/>
            </a:pPr>
            <a:endParaRPr lang="en-US" sz="1400" b="1" dirty="0">
              <a:latin typeface="IBM Plex Sans"/>
            </a:endParaRPr>
          </a:p>
        </p:txBody>
      </p:sp>
      <p:pic>
        <p:nvPicPr>
          <p:cNvPr id="4" name="Picture 3">
            <a:extLst>
              <a:ext uri="{FF2B5EF4-FFF2-40B4-BE49-F238E27FC236}">
                <a16:creationId xmlns:a16="http://schemas.microsoft.com/office/drawing/2014/main" id="{3451BCA7-5BDC-379F-9BFF-4216DCF8F51D}"/>
              </a:ext>
            </a:extLst>
          </p:cNvPr>
          <p:cNvPicPr>
            <a:picLocks noChangeAspect="1"/>
          </p:cNvPicPr>
          <p:nvPr/>
        </p:nvPicPr>
        <p:blipFill>
          <a:blip r:embed="rId3"/>
          <a:stretch>
            <a:fillRect/>
          </a:stretch>
        </p:blipFill>
        <p:spPr>
          <a:xfrm>
            <a:off x="979655" y="1831709"/>
            <a:ext cx="3194581" cy="3194581"/>
          </a:xfrm>
          <a:prstGeom prst="rect">
            <a:avLst/>
          </a:prstGeom>
        </p:spPr>
      </p:pic>
    </p:spTree>
    <p:custDataLst>
      <p:tags r:id="rId1"/>
    </p:custDataLst>
    <p:extLst>
      <p:ext uri="{BB962C8B-B14F-4D97-AF65-F5344CB8AC3E}">
        <p14:creationId xmlns:p14="http://schemas.microsoft.com/office/powerpoint/2010/main" val="20723152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40A79-212E-111B-2C74-5C93EF170E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628378-2446-DEFD-3296-B4D8F093D393}"/>
              </a:ext>
            </a:extLst>
          </p:cNvPr>
          <p:cNvSpPr>
            <a:spLocks noGrp="1"/>
          </p:cNvSpPr>
          <p:nvPr>
            <p:ph type="title"/>
          </p:nvPr>
        </p:nvSpPr>
        <p:spPr>
          <a:xfrm>
            <a:off x="782053" y="376642"/>
            <a:ext cx="11021907" cy="1334970"/>
          </a:xfrm>
        </p:spPr>
        <p:txBody>
          <a:bodyPr anchor="ctr">
            <a:normAutofit/>
          </a:bodyPr>
          <a:lstStyle/>
          <a:p>
            <a:r>
              <a:rPr lang="en-US" dirty="0">
                <a:latin typeface="IBM Plex Sans SemiBold"/>
              </a:rPr>
              <a:t>METHODOLOGY (</a:t>
            </a:r>
            <a:r>
              <a:rPr lang="en-US" sz="2400" dirty="0">
                <a:latin typeface="IBM Plex Sans SemiBold"/>
              </a:rPr>
              <a:t>Exploratory Data Analysis(EDA)</a:t>
            </a:r>
            <a:r>
              <a:rPr lang="en-US" dirty="0">
                <a:latin typeface="IBM Plex Sans SemiBold"/>
              </a:rPr>
              <a:t>)</a:t>
            </a:r>
            <a:endParaRPr lang="en-US" dirty="0"/>
          </a:p>
        </p:txBody>
      </p:sp>
      <p:sp>
        <p:nvSpPr>
          <p:cNvPr id="3" name="Content Placeholder 2">
            <a:extLst>
              <a:ext uri="{FF2B5EF4-FFF2-40B4-BE49-F238E27FC236}">
                <a16:creationId xmlns:a16="http://schemas.microsoft.com/office/drawing/2014/main" id="{4229B17A-0E70-6B32-0B1C-5493EAADFE79}"/>
              </a:ext>
            </a:extLst>
          </p:cNvPr>
          <p:cNvSpPr txBox="1">
            <a:spLocks/>
          </p:cNvSpPr>
          <p:nvPr/>
        </p:nvSpPr>
        <p:spPr>
          <a:xfrm>
            <a:off x="4285075" y="1825625"/>
            <a:ext cx="7068725" cy="466178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1400" b="1" dirty="0">
                <a:latin typeface="IBM Plex Sans"/>
              </a:rPr>
              <a:t>Pandas and NumPy</a:t>
            </a:r>
            <a:endParaRPr lang="en-US" sz="1400" b="1">
              <a:latin typeface="IBM Plex Sans"/>
            </a:endParaRPr>
          </a:p>
          <a:p>
            <a:r>
              <a:rPr lang="en-US" sz="1400" dirty="0">
                <a:latin typeface="IBM Plex Sans"/>
              </a:rPr>
              <a:t>Functions from the Pandas and NumPy libraries are used to derive basic information about the data collected, which includes:</a:t>
            </a:r>
            <a:endParaRPr lang="en-US" sz="1400">
              <a:latin typeface="IBM Plex Sans"/>
            </a:endParaRPr>
          </a:p>
          <a:p>
            <a:r>
              <a:rPr lang="en-US" sz="1400" dirty="0">
                <a:latin typeface="IBM Plex Sans"/>
              </a:rPr>
              <a:t>The number of launches on each launch site</a:t>
            </a:r>
          </a:p>
          <a:p>
            <a:r>
              <a:rPr lang="en-US" sz="1400" dirty="0">
                <a:latin typeface="IBM Plex Sans"/>
              </a:rPr>
              <a:t>The number of occurrence of each orbit</a:t>
            </a:r>
          </a:p>
          <a:p>
            <a:r>
              <a:rPr lang="en-US" sz="1400" dirty="0">
                <a:latin typeface="IBM Plex Sans"/>
              </a:rPr>
              <a:t>The number and occurrence of each mission outcome</a:t>
            </a:r>
          </a:p>
          <a:p>
            <a:pPr marL="0" indent="0">
              <a:buNone/>
            </a:pPr>
            <a:r>
              <a:rPr lang="en-US" sz="1400" b="1" dirty="0">
                <a:latin typeface="IBM Plex Sans"/>
              </a:rPr>
              <a:t>SQL</a:t>
            </a:r>
          </a:p>
          <a:p>
            <a:r>
              <a:rPr lang="en-US" sz="1400" dirty="0">
                <a:latin typeface="IBM Plex Sans"/>
              </a:rPr>
              <a:t>The data is queried using SQL to answer several questions about the data such as:</a:t>
            </a:r>
            <a:endParaRPr lang="en-US" sz="1400">
              <a:latin typeface="IBM Plex Sans"/>
            </a:endParaRPr>
          </a:p>
          <a:p>
            <a:r>
              <a:rPr lang="en-US" sz="1400" dirty="0">
                <a:latin typeface="IBM Plex Sans"/>
              </a:rPr>
              <a:t>The names of the unique launch sites in the space mission</a:t>
            </a:r>
          </a:p>
          <a:p>
            <a:r>
              <a:rPr lang="en-US" sz="1400" dirty="0">
                <a:latin typeface="IBM Plex Sans"/>
              </a:rPr>
              <a:t>The total payload mass carried by boosters launched by NASA (CRS)</a:t>
            </a:r>
          </a:p>
          <a:p>
            <a:r>
              <a:rPr lang="en-US" sz="1400" dirty="0">
                <a:latin typeface="IBM Plex Sans"/>
              </a:rPr>
              <a:t>The average payload mass carried by booster version F9 v1.1</a:t>
            </a:r>
          </a:p>
        </p:txBody>
      </p:sp>
      <p:pic>
        <p:nvPicPr>
          <p:cNvPr id="4" name="Picture 3">
            <a:extLst>
              <a:ext uri="{FF2B5EF4-FFF2-40B4-BE49-F238E27FC236}">
                <a16:creationId xmlns:a16="http://schemas.microsoft.com/office/drawing/2014/main" id="{86EF3D2B-6F84-4C96-1B7E-583D08B6A938}"/>
              </a:ext>
            </a:extLst>
          </p:cNvPr>
          <p:cNvPicPr>
            <a:picLocks noChangeAspect="1"/>
          </p:cNvPicPr>
          <p:nvPr/>
        </p:nvPicPr>
        <p:blipFill>
          <a:blip r:embed="rId3"/>
          <a:stretch>
            <a:fillRect/>
          </a:stretch>
        </p:blipFill>
        <p:spPr>
          <a:xfrm>
            <a:off x="979655" y="1831709"/>
            <a:ext cx="3194581" cy="3194581"/>
          </a:xfrm>
          <a:prstGeom prst="rect">
            <a:avLst/>
          </a:prstGeom>
        </p:spPr>
      </p:pic>
    </p:spTree>
    <p:custDataLst>
      <p:tags r:id="rId1"/>
    </p:custDataLst>
    <p:extLst>
      <p:ext uri="{BB962C8B-B14F-4D97-AF65-F5344CB8AC3E}">
        <p14:creationId xmlns:p14="http://schemas.microsoft.com/office/powerpoint/2010/main" val="17800025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D8E6D-43C0-88DC-A54B-CAF04D0473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22D3DF-15E8-9BA1-76F3-EE650CB9AE27}"/>
              </a:ext>
            </a:extLst>
          </p:cNvPr>
          <p:cNvSpPr>
            <a:spLocks noGrp="1"/>
          </p:cNvSpPr>
          <p:nvPr>
            <p:ph type="title"/>
          </p:nvPr>
        </p:nvSpPr>
        <p:spPr>
          <a:xfrm>
            <a:off x="782053" y="376642"/>
            <a:ext cx="11021907" cy="1334970"/>
          </a:xfrm>
        </p:spPr>
        <p:txBody>
          <a:bodyPr anchor="ctr">
            <a:normAutofit/>
          </a:bodyPr>
          <a:lstStyle/>
          <a:p>
            <a:r>
              <a:rPr lang="en-US" dirty="0">
                <a:latin typeface="IBM Plex Sans SemiBold"/>
              </a:rPr>
              <a:t>METHODOLOGY (</a:t>
            </a:r>
            <a:r>
              <a:rPr lang="en-US" sz="2400" dirty="0">
                <a:latin typeface="IBM Plex Sans SemiBold"/>
              </a:rPr>
              <a:t>Data Visualization</a:t>
            </a:r>
            <a:r>
              <a:rPr lang="en-US" dirty="0">
                <a:latin typeface="IBM Plex Sans SemiBold"/>
              </a:rPr>
              <a:t>)</a:t>
            </a:r>
            <a:endParaRPr lang="en-US" dirty="0"/>
          </a:p>
        </p:txBody>
      </p:sp>
      <p:sp>
        <p:nvSpPr>
          <p:cNvPr id="3" name="Content Placeholder 2">
            <a:extLst>
              <a:ext uri="{FF2B5EF4-FFF2-40B4-BE49-F238E27FC236}">
                <a16:creationId xmlns:a16="http://schemas.microsoft.com/office/drawing/2014/main" id="{C67C824B-144E-5C90-AF85-35E964091B08}"/>
              </a:ext>
            </a:extLst>
          </p:cNvPr>
          <p:cNvSpPr txBox="1">
            <a:spLocks/>
          </p:cNvSpPr>
          <p:nvPr/>
        </p:nvSpPr>
        <p:spPr>
          <a:xfrm>
            <a:off x="4285075" y="1825625"/>
            <a:ext cx="7068725" cy="4661783"/>
          </a:xfrm>
          <a:prstGeom prst="rect">
            <a:avLst/>
          </a:prstGeom>
        </p:spPr>
        <p:txBody>
          <a:bodyPr vert="horz" lIns="91440" tIns="45720" rIns="91440" bIns="45720" rtlCol="0" anchor="t">
            <a:normAutofit fontScale="550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200" b="1" dirty="0">
                <a:latin typeface="IBM Plex Sans"/>
              </a:rPr>
              <a:t>Matplotlib and Seaborn</a:t>
            </a:r>
            <a:endParaRPr lang="en-US" b="1"/>
          </a:p>
          <a:p>
            <a:r>
              <a:rPr lang="en-US" sz="2200" dirty="0">
                <a:latin typeface="IBM Plex Sans"/>
              </a:rPr>
              <a:t>Functions from the Matplotlib and Seaborn libraries are used to visualize the data through</a:t>
            </a:r>
            <a:endParaRPr lang="en-US" dirty="0"/>
          </a:p>
          <a:p>
            <a:r>
              <a:rPr lang="en-US" sz="2200" dirty="0">
                <a:latin typeface="IBM Plex Sans"/>
              </a:rPr>
              <a:t>scatterplots, bar charts, and line charts.</a:t>
            </a:r>
            <a:endParaRPr lang="en-US" dirty="0"/>
          </a:p>
          <a:p>
            <a:r>
              <a:rPr lang="en-US" sz="2200" dirty="0">
                <a:latin typeface="IBM Plex Sans"/>
              </a:rPr>
              <a:t>The plots and charts are used to understand more about the relationships between several</a:t>
            </a:r>
            <a:endParaRPr lang="en-US" dirty="0"/>
          </a:p>
          <a:p>
            <a:r>
              <a:rPr lang="en-US" sz="2200" dirty="0">
                <a:latin typeface="IBM Plex Sans"/>
              </a:rPr>
              <a:t>features, such as:</a:t>
            </a:r>
            <a:endParaRPr lang="en-US" dirty="0"/>
          </a:p>
          <a:p>
            <a:r>
              <a:rPr lang="en-US" sz="2200" dirty="0">
                <a:latin typeface="IBM Plex Sans"/>
              </a:rPr>
              <a:t>The relationship between flight number and launch site</a:t>
            </a:r>
            <a:endParaRPr lang="en-US" dirty="0"/>
          </a:p>
          <a:p>
            <a:r>
              <a:rPr lang="en-US" sz="2200" dirty="0">
                <a:latin typeface="IBM Plex Sans"/>
              </a:rPr>
              <a:t>The relationship between payload mass and launch site</a:t>
            </a:r>
            <a:endParaRPr lang="en-US" dirty="0"/>
          </a:p>
          <a:p>
            <a:r>
              <a:rPr lang="en-US" sz="2200" dirty="0">
                <a:latin typeface="IBM Plex Sans"/>
              </a:rPr>
              <a:t>The relationship between success rate and orbit type</a:t>
            </a:r>
            <a:endParaRPr lang="en-US" dirty="0"/>
          </a:p>
          <a:p>
            <a:pPr marL="0" indent="0">
              <a:buNone/>
            </a:pPr>
            <a:r>
              <a:rPr lang="en-US" sz="2200" b="1" dirty="0">
                <a:latin typeface="IBM Plex Sans"/>
              </a:rPr>
              <a:t>Folium</a:t>
            </a:r>
            <a:endParaRPr lang="en-US" b="1" dirty="0"/>
          </a:p>
          <a:p>
            <a:r>
              <a:rPr lang="en-US" sz="2200" dirty="0">
                <a:latin typeface="IBM Plex Sans"/>
              </a:rPr>
              <a:t>Functions from the Folium libraries are used to visualize the data through interactive maps.</a:t>
            </a:r>
            <a:endParaRPr lang="en-US" dirty="0"/>
          </a:p>
          <a:p>
            <a:r>
              <a:rPr lang="en-US" sz="2200" dirty="0">
                <a:latin typeface="IBM Plex Sans"/>
              </a:rPr>
              <a:t>The Folium library is used to:</a:t>
            </a:r>
            <a:endParaRPr lang="en-US" dirty="0"/>
          </a:p>
          <a:p>
            <a:r>
              <a:rPr lang="en-US" sz="2200" dirty="0">
                <a:latin typeface="IBM Plex Sans"/>
              </a:rPr>
              <a:t>Mark all launch sites on a map</a:t>
            </a:r>
            <a:endParaRPr lang="en-US" dirty="0"/>
          </a:p>
          <a:p>
            <a:r>
              <a:rPr lang="en-US" sz="2200" dirty="0">
                <a:latin typeface="IBM Plex Sans"/>
              </a:rPr>
              <a:t>Mark the succeeded launches and failed launches for each site on the map</a:t>
            </a:r>
            <a:endParaRPr lang="en-US" dirty="0"/>
          </a:p>
          <a:p>
            <a:r>
              <a:rPr lang="en-US" sz="2200" dirty="0">
                <a:latin typeface="IBM Plex Sans"/>
              </a:rPr>
              <a:t>Mark the distances between a launch site to its proximities such as the nearest city, railway, or</a:t>
            </a:r>
            <a:endParaRPr lang="en-US" dirty="0"/>
          </a:p>
          <a:p>
            <a:pPr marL="0" indent="0">
              <a:buNone/>
            </a:pPr>
            <a:r>
              <a:rPr lang="en-US" sz="2200" dirty="0">
                <a:latin typeface="IBM Plex Sans"/>
              </a:rPr>
              <a:t>Highway</a:t>
            </a:r>
            <a:endParaRPr lang="en-US" dirty="0"/>
          </a:p>
          <a:p>
            <a:endParaRPr lang="en-US" sz="2200" dirty="0">
              <a:latin typeface="IBM Plex Sans"/>
            </a:endParaRPr>
          </a:p>
        </p:txBody>
      </p:sp>
      <p:pic>
        <p:nvPicPr>
          <p:cNvPr id="4" name="Picture 3">
            <a:extLst>
              <a:ext uri="{FF2B5EF4-FFF2-40B4-BE49-F238E27FC236}">
                <a16:creationId xmlns:a16="http://schemas.microsoft.com/office/drawing/2014/main" id="{603EC04B-C06C-0DD8-A11F-6E02461CE4A8}"/>
              </a:ext>
            </a:extLst>
          </p:cNvPr>
          <p:cNvPicPr>
            <a:picLocks noChangeAspect="1"/>
          </p:cNvPicPr>
          <p:nvPr/>
        </p:nvPicPr>
        <p:blipFill>
          <a:blip r:embed="rId3"/>
          <a:stretch>
            <a:fillRect/>
          </a:stretch>
        </p:blipFill>
        <p:spPr>
          <a:xfrm>
            <a:off x="979655" y="1831709"/>
            <a:ext cx="3194581" cy="3194581"/>
          </a:xfrm>
          <a:prstGeom prst="rect">
            <a:avLst/>
          </a:prstGeom>
        </p:spPr>
      </p:pic>
    </p:spTree>
    <p:custDataLst>
      <p:tags r:id="rId1"/>
    </p:custDataLst>
    <p:extLst>
      <p:ext uri="{BB962C8B-B14F-4D97-AF65-F5344CB8AC3E}">
        <p14:creationId xmlns:p14="http://schemas.microsoft.com/office/powerpoint/2010/main" val="2829397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51F15-0171-525D-0869-9907EDAAEF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FF6084-E62A-589F-5EF5-0DDBB6104E10}"/>
              </a:ext>
            </a:extLst>
          </p:cNvPr>
          <p:cNvSpPr>
            <a:spLocks noGrp="1"/>
          </p:cNvSpPr>
          <p:nvPr>
            <p:ph type="title"/>
          </p:nvPr>
        </p:nvSpPr>
        <p:spPr>
          <a:xfrm>
            <a:off x="782053" y="376642"/>
            <a:ext cx="11021907" cy="1334970"/>
          </a:xfrm>
        </p:spPr>
        <p:txBody>
          <a:bodyPr anchor="ctr">
            <a:normAutofit/>
          </a:bodyPr>
          <a:lstStyle/>
          <a:p>
            <a:r>
              <a:rPr lang="en-US" dirty="0">
                <a:latin typeface="IBM Plex Sans SemiBold"/>
              </a:rPr>
              <a:t>METHODOLOGY (</a:t>
            </a:r>
            <a:r>
              <a:rPr lang="en-US" sz="2400" dirty="0">
                <a:latin typeface="IBM Plex Sans SemiBold"/>
              </a:rPr>
              <a:t>Data Visualization</a:t>
            </a:r>
            <a:r>
              <a:rPr lang="en-US" dirty="0">
                <a:latin typeface="IBM Plex Sans SemiBold"/>
              </a:rPr>
              <a:t>)</a:t>
            </a:r>
            <a:endParaRPr lang="en-US" dirty="0"/>
          </a:p>
        </p:txBody>
      </p:sp>
      <p:sp>
        <p:nvSpPr>
          <p:cNvPr id="3" name="Content Placeholder 2">
            <a:extLst>
              <a:ext uri="{FF2B5EF4-FFF2-40B4-BE49-F238E27FC236}">
                <a16:creationId xmlns:a16="http://schemas.microsoft.com/office/drawing/2014/main" id="{C84D8187-E2FA-CFC1-4D70-AA38DF074438}"/>
              </a:ext>
            </a:extLst>
          </p:cNvPr>
          <p:cNvSpPr txBox="1">
            <a:spLocks/>
          </p:cNvSpPr>
          <p:nvPr/>
        </p:nvSpPr>
        <p:spPr>
          <a:xfrm>
            <a:off x="4285075" y="1825625"/>
            <a:ext cx="7068725" cy="466178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70000"/>
              </a:lnSpc>
              <a:buNone/>
            </a:pPr>
            <a:r>
              <a:rPr lang="en-US" sz="1200" b="1" dirty="0">
                <a:latin typeface="IBM Plex Sans"/>
              </a:rPr>
              <a:t>Dash</a:t>
            </a:r>
            <a:endParaRPr lang="en-US" b="1"/>
          </a:p>
          <a:p>
            <a:pPr>
              <a:lnSpc>
                <a:spcPct val="70000"/>
              </a:lnSpc>
            </a:pPr>
            <a:r>
              <a:rPr lang="en-US" sz="1200" dirty="0">
                <a:latin typeface="IBM Plex Sans"/>
              </a:rPr>
              <a:t>Functions from Dash are used to generate an interactive site where we can toggle the input</a:t>
            </a:r>
          </a:p>
          <a:p>
            <a:pPr>
              <a:lnSpc>
                <a:spcPct val="70000"/>
              </a:lnSpc>
            </a:pPr>
            <a:r>
              <a:rPr lang="en-US" sz="1200" dirty="0">
                <a:latin typeface="IBM Plex Sans"/>
              </a:rPr>
              <a:t>using a dropdown menu and a range slider.</a:t>
            </a:r>
          </a:p>
          <a:p>
            <a:pPr>
              <a:lnSpc>
                <a:spcPct val="70000"/>
              </a:lnSpc>
            </a:pPr>
            <a:r>
              <a:rPr lang="en-US" sz="1200" dirty="0">
                <a:latin typeface="IBM Plex Sans"/>
              </a:rPr>
              <a:t>Using a pie chart and a scatterplot, the interactive site shows:</a:t>
            </a:r>
          </a:p>
          <a:p>
            <a:pPr>
              <a:lnSpc>
                <a:spcPct val="70000"/>
              </a:lnSpc>
            </a:pPr>
            <a:r>
              <a:rPr lang="en-US" sz="1200" dirty="0">
                <a:latin typeface="IBM Plex Sans"/>
              </a:rPr>
              <a:t>The total success launches from each launch site</a:t>
            </a:r>
          </a:p>
          <a:p>
            <a:pPr>
              <a:lnSpc>
                <a:spcPct val="70000"/>
              </a:lnSpc>
            </a:pPr>
            <a:r>
              <a:rPr lang="en-US" sz="1200" dirty="0">
                <a:latin typeface="IBM Plex Sans"/>
              </a:rPr>
              <a:t>The correlation between payload mass and mission outcome (success or failure) for each launch</a:t>
            </a:r>
          </a:p>
          <a:p>
            <a:pPr marL="0" indent="0">
              <a:lnSpc>
                <a:spcPct val="70000"/>
              </a:lnSpc>
              <a:buNone/>
            </a:pPr>
            <a:r>
              <a:rPr lang="en-US" sz="1200" dirty="0">
                <a:latin typeface="IBM Plex Sans"/>
              </a:rPr>
              <a:t>site</a:t>
            </a:r>
            <a:endParaRPr lang="en-US"/>
          </a:p>
        </p:txBody>
      </p:sp>
      <p:pic>
        <p:nvPicPr>
          <p:cNvPr id="4" name="Picture 3">
            <a:extLst>
              <a:ext uri="{FF2B5EF4-FFF2-40B4-BE49-F238E27FC236}">
                <a16:creationId xmlns:a16="http://schemas.microsoft.com/office/drawing/2014/main" id="{569833C2-0AD4-7582-7BB2-755213854CA7}"/>
              </a:ext>
            </a:extLst>
          </p:cNvPr>
          <p:cNvPicPr>
            <a:picLocks noChangeAspect="1"/>
          </p:cNvPicPr>
          <p:nvPr/>
        </p:nvPicPr>
        <p:blipFill>
          <a:blip r:embed="rId3"/>
          <a:stretch>
            <a:fillRect/>
          </a:stretch>
        </p:blipFill>
        <p:spPr>
          <a:xfrm>
            <a:off x="979655" y="1831709"/>
            <a:ext cx="3194581" cy="3194581"/>
          </a:xfrm>
          <a:prstGeom prst="rect">
            <a:avLst/>
          </a:prstGeom>
        </p:spPr>
      </p:pic>
    </p:spTree>
    <p:custDataLst>
      <p:tags r:id="rId1"/>
    </p:custDataLst>
    <p:extLst>
      <p:ext uri="{BB962C8B-B14F-4D97-AF65-F5344CB8AC3E}">
        <p14:creationId xmlns:p14="http://schemas.microsoft.com/office/powerpoint/2010/main" val="37544345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A4CC1-5E49-EDF7-E851-E75B87CDA9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C5869-4E91-2026-A476-6FE0D47EE683}"/>
              </a:ext>
            </a:extLst>
          </p:cNvPr>
          <p:cNvSpPr>
            <a:spLocks noGrp="1"/>
          </p:cNvSpPr>
          <p:nvPr>
            <p:ph type="title"/>
          </p:nvPr>
        </p:nvSpPr>
        <p:spPr>
          <a:xfrm>
            <a:off x="782053" y="376642"/>
            <a:ext cx="11021907" cy="1334970"/>
          </a:xfrm>
        </p:spPr>
        <p:txBody>
          <a:bodyPr anchor="ctr">
            <a:normAutofit/>
          </a:bodyPr>
          <a:lstStyle/>
          <a:p>
            <a:r>
              <a:rPr lang="en-US" dirty="0">
                <a:latin typeface="IBM Plex Sans SemiBold"/>
              </a:rPr>
              <a:t>METHODOLOGY (</a:t>
            </a:r>
            <a:r>
              <a:rPr lang="en-US" sz="2400" dirty="0">
                <a:latin typeface="IBM Plex Sans SemiBold"/>
              </a:rPr>
              <a:t>Machine Learning Prediction</a:t>
            </a:r>
            <a:r>
              <a:rPr lang="en-US" dirty="0">
                <a:latin typeface="IBM Plex Sans SemiBold"/>
              </a:rPr>
              <a:t>)</a:t>
            </a:r>
            <a:endParaRPr lang="en-US" dirty="0"/>
          </a:p>
        </p:txBody>
      </p:sp>
      <p:sp>
        <p:nvSpPr>
          <p:cNvPr id="3" name="Content Placeholder 2">
            <a:extLst>
              <a:ext uri="{FF2B5EF4-FFF2-40B4-BE49-F238E27FC236}">
                <a16:creationId xmlns:a16="http://schemas.microsoft.com/office/drawing/2014/main" id="{4FF0B0F3-3A77-DBDB-EEA3-83C3D7EF1A00}"/>
              </a:ext>
            </a:extLst>
          </p:cNvPr>
          <p:cNvSpPr txBox="1">
            <a:spLocks/>
          </p:cNvSpPr>
          <p:nvPr/>
        </p:nvSpPr>
        <p:spPr>
          <a:xfrm>
            <a:off x="4285075" y="1825625"/>
            <a:ext cx="7068725" cy="4134967"/>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1200" dirty="0">
                <a:latin typeface="IBM Plex Sans"/>
              </a:rPr>
              <a:t>Functions from the Scikit-learn library are used to create our machine learning models.</a:t>
            </a:r>
            <a:endParaRPr lang="en-US" dirty="0"/>
          </a:p>
          <a:p>
            <a:pPr marL="0" indent="0">
              <a:buNone/>
            </a:pPr>
            <a:endParaRPr lang="en-US" sz="1200" dirty="0">
              <a:latin typeface="IBM Plex Sans"/>
            </a:endParaRPr>
          </a:p>
          <a:p>
            <a:pPr marL="0" indent="0">
              <a:buNone/>
            </a:pPr>
            <a:r>
              <a:rPr lang="en-US" sz="1200" b="1" dirty="0">
                <a:latin typeface="IBM Plex Sans"/>
              </a:rPr>
              <a:t>The machine learning prediction phase include the following steps:</a:t>
            </a:r>
            <a:endParaRPr lang="en-US" b="1"/>
          </a:p>
          <a:p>
            <a:r>
              <a:rPr lang="en-US" sz="1200" dirty="0">
                <a:latin typeface="IBM Plex Sans"/>
              </a:rPr>
              <a:t>Standardizing the data</a:t>
            </a:r>
          </a:p>
          <a:p>
            <a:r>
              <a:rPr lang="en-US" sz="1200" dirty="0">
                <a:latin typeface="IBM Plex Sans"/>
              </a:rPr>
              <a:t>Splitting the data into training and test data</a:t>
            </a:r>
          </a:p>
          <a:p>
            <a:pPr marL="0" indent="0">
              <a:buNone/>
            </a:pPr>
            <a:endParaRPr lang="en-US" sz="1200" dirty="0">
              <a:latin typeface="IBM Plex Sans"/>
            </a:endParaRPr>
          </a:p>
          <a:p>
            <a:pPr marL="0" indent="0">
              <a:buNone/>
            </a:pPr>
            <a:r>
              <a:rPr lang="en-US" sz="1200" b="1" dirty="0">
                <a:latin typeface="IBM Plex Sans"/>
              </a:rPr>
              <a:t> Creating machine learning models, which include:</a:t>
            </a:r>
            <a:endParaRPr lang="en-US" b="1"/>
          </a:p>
          <a:p>
            <a:r>
              <a:rPr lang="en-US" sz="1200" dirty="0">
                <a:latin typeface="IBM Plex Sans"/>
              </a:rPr>
              <a:t>Logistic regression</a:t>
            </a:r>
          </a:p>
          <a:p>
            <a:r>
              <a:rPr lang="en-US" sz="1200" dirty="0">
                <a:latin typeface="IBM Plex Sans"/>
              </a:rPr>
              <a:t>Support vector machine (SVM)</a:t>
            </a:r>
          </a:p>
          <a:p>
            <a:r>
              <a:rPr lang="en-US" sz="1200" dirty="0">
                <a:latin typeface="IBM Plex Sans"/>
              </a:rPr>
              <a:t>Decision tree</a:t>
            </a:r>
          </a:p>
          <a:p>
            <a:r>
              <a:rPr lang="en-US" sz="1200" dirty="0">
                <a:latin typeface="IBM Plex Sans"/>
              </a:rPr>
              <a:t>K nearest neighbors (KNN)</a:t>
            </a:r>
          </a:p>
          <a:p>
            <a:pPr marL="0" indent="0">
              <a:buNone/>
            </a:pPr>
            <a:r>
              <a:rPr lang="en-US" sz="1200" b="1" dirty="0">
                <a:latin typeface="IBM Plex Sans"/>
              </a:rPr>
              <a:t>Fit the models on the training set</a:t>
            </a:r>
          </a:p>
          <a:p>
            <a:r>
              <a:rPr lang="en-US" sz="1200" dirty="0">
                <a:latin typeface="IBM Plex Sans"/>
              </a:rPr>
              <a:t>Find the best combination of hyperparameters for each model</a:t>
            </a:r>
          </a:p>
          <a:p>
            <a:r>
              <a:rPr lang="en-US" sz="1200" dirty="0">
                <a:latin typeface="IBM Plex Sans"/>
              </a:rPr>
              <a:t>Evaluate the models based on their accuracy scores and confusion matrix</a:t>
            </a:r>
          </a:p>
        </p:txBody>
      </p:sp>
      <p:pic>
        <p:nvPicPr>
          <p:cNvPr id="4" name="Picture 3">
            <a:extLst>
              <a:ext uri="{FF2B5EF4-FFF2-40B4-BE49-F238E27FC236}">
                <a16:creationId xmlns:a16="http://schemas.microsoft.com/office/drawing/2014/main" id="{94E8CB74-25C5-9D48-0F4C-84EB707ED37F}"/>
              </a:ext>
            </a:extLst>
          </p:cNvPr>
          <p:cNvPicPr>
            <a:picLocks noChangeAspect="1"/>
          </p:cNvPicPr>
          <p:nvPr/>
        </p:nvPicPr>
        <p:blipFill>
          <a:blip r:embed="rId3"/>
          <a:stretch>
            <a:fillRect/>
          </a:stretch>
        </p:blipFill>
        <p:spPr>
          <a:xfrm>
            <a:off x="979655" y="1831709"/>
            <a:ext cx="3194581" cy="3194581"/>
          </a:xfrm>
          <a:prstGeom prst="rect">
            <a:avLst/>
          </a:prstGeom>
        </p:spPr>
      </p:pic>
    </p:spTree>
    <p:custDataLst>
      <p:tags r:id="rId1"/>
    </p:custDataLst>
    <p:extLst>
      <p:ext uri="{BB962C8B-B14F-4D97-AF65-F5344CB8AC3E}">
        <p14:creationId xmlns:p14="http://schemas.microsoft.com/office/powerpoint/2010/main" val="31141670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3F900-F166-BEB7-F740-8C872536DC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5210DC-B757-47AF-44F4-D6EC9F4BF93B}"/>
              </a:ext>
            </a:extLst>
          </p:cNvPr>
          <p:cNvSpPr>
            <a:spLocks noGrp="1"/>
          </p:cNvSpPr>
          <p:nvPr>
            <p:ph type="title"/>
          </p:nvPr>
        </p:nvSpPr>
        <p:spPr>
          <a:xfrm>
            <a:off x="838200" y="365125"/>
            <a:ext cx="10515600" cy="1325563"/>
          </a:xfrm>
        </p:spPr>
        <p:txBody>
          <a:bodyPr anchor="ctr">
            <a:normAutofit/>
          </a:bodyPr>
          <a:lstStyle/>
          <a:p>
            <a:r>
              <a:rPr lang="en-US" dirty="0"/>
              <a:t>RESULTS</a:t>
            </a:r>
          </a:p>
        </p:txBody>
      </p:sp>
      <p:sp>
        <p:nvSpPr>
          <p:cNvPr id="3" name="Content Placeholder 2">
            <a:extLst>
              <a:ext uri="{FF2B5EF4-FFF2-40B4-BE49-F238E27FC236}">
                <a16:creationId xmlns:a16="http://schemas.microsoft.com/office/drawing/2014/main" id="{27E1D05E-A3D3-356F-EB51-94E7A1AE2A61}"/>
              </a:ext>
            </a:extLst>
          </p:cNvPr>
          <p:cNvSpPr txBox="1">
            <a:spLocks/>
          </p:cNvSpPr>
          <p:nvPr/>
        </p:nvSpPr>
        <p:spPr>
          <a:xfrm>
            <a:off x="1043114" y="1825625"/>
            <a:ext cx="70687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endParaRPr lang="en-US" sz="1800"/>
          </a:p>
          <a:p>
            <a:pPr marL="0" indent="0">
              <a:buFont typeface="Arial"/>
              <a:buNone/>
            </a:pPr>
            <a:endParaRPr lang="en-US" sz="1800"/>
          </a:p>
          <a:p>
            <a:pPr marL="0" indent="0">
              <a:buFont typeface="Arial"/>
              <a:buNone/>
            </a:pPr>
            <a:endParaRPr lang="en-US" sz="1800" dirty="0"/>
          </a:p>
        </p:txBody>
      </p:sp>
      <p:sp>
        <p:nvSpPr>
          <p:cNvPr id="4" name="TextBox 3">
            <a:extLst>
              <a:ext uri="{FF2B5EF4-FFF2-40B4-BE49-F238E27FC236}">
                <a16:creationId xmlns:a16="http://schemas.microsoft.com/office/drawing/2014/main" id="{E808A791-0A70-237F-9A98-91F2069384E2}"/>
              </a:ext>
            </a:extLst>
          </p:cNvPr>
          <p:cNvSpPr txBox="1"/>
          <p:nvPr/>
        </p:nvSpPr>
        <p:spPr>
          <a:xfrm>
            <a:off x="839141" y="1695216"/>
            <a:ext cx="10730088"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The results are split into 5 sections: </a:t>
            </a:r>
          </a:p>
          <a:p>
            <a:endParaRPr lang="en-US" dirty="0"/>
          </a:p>
          <a:p>
            <a:pPr marL="285750" indent="-285750">
              <a:buFont typeface="Arial"/>
              <a:buChar char="•"/>
            </a:pPr>
            <a:r>
              <a:rPr lang="en-US" dirty="0"/>
              <a:t>SQL (EDA with SQL) </a:t>
            </a:r>
          </a:p>
          <a:p>
            <a:pPr marL="285750" indent="-285750">
              <a:buFont typeface="Arial"/>
              <a:buChar char="•"/>
            </a:pPr>
            <a:r>
              <a:rPr lang="en-US" dirty="0"/>
              <a:t> Matplotlib and Seaborn (EDA with Visualization) </a:t>
            </a:r>
          </a:p>
          <a:p>
            <a:pPr marL="285750" indent="-285750">
              <a:buFont typeface="Arial"/>
              <a:buChar char="•"/>
            </a:pPr>
            <a:r>
              <a:rPr lang="en-US" dirty="0"/>
              <a:t>Folium </a:t>
            </a:r>
          </a:p>
          <a:p>
            <a:pPr marL="285750" indent="-285750">
              <a:buFont typeface="Arial"/>
              <a:buChar char="•"/>
            </a:pPr>
            <a:r>
              <a:rPr lang="en-US" dirty="0"/>
              <a:t>Dash </a:t>
            </a:r>
            <a:endParaRPr lang="en-US"/>
          </a:p>
          <a:p>
            <a:pPr marL="285750" indent="-285750">
              <a:buFont typeface="Arial"/>
              <a:buChar char="•"/>
            </a:pPr>
            <a:r>
              <a:rPr lang="en-US" dirty="0"/>
              <a:t>Predictive Analysis </a:t>
            </a:r>
          </a:p>
          <a:p>
            <a:pPr marL="285750" indent="-285750">
              <a:buFont typeface="Arial"/>
              <a:buChar char="•"/>
            </a:pPr>
            <a:endParaRPr lang="en-US"/>
          </a:p>
          <a:p>
            <a:r>
              <a:rPr lang="en-US" dirty="0"/>
              <a:t>In all of the graphs that follow, class 0 represents a failed launch outcome while class 1 represents a successful launch outcome.</a:t>
            </a:r>
          </a:p>
        </p:txBody>
      </p:sp>
    </p:spTree>
    <p:custDataLst>
      <p:tags r:id="rId1"/>
    </p:custDataLst>
    <p:extLst>
      <p:ext uri="{BB962C8B-B14F-4D97-AF65-F5344CB8AC3E}">
        <p14:creationId xmlns:p14="http://schemas.microsoft.com/office/powerpoint/2010/main" val="22159085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69DD3-2832-4D70-4972-6B3C3D0110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260DEB-E335-30F9-F7FB-9CC788F35D70}"/>
              </a:ext>
            </a:extLst>
          </p:cNvPr>
          <p:cNvSpPr>
            <a:spLocks noGrp="1"/>
          </p:cNvSpPr>
          <p:nvPr>
            <p:ph type="title"/>
          </p:nvPr>
        </p:nvSpPr>
        <p:spPr>
          <a:xfrm>
            <a:off x="838200" y="365125"/>
            <a:ext cx="10515600" cy="1325563"/>
          </a:xfrm>
        </p:spPr>
        <p:txBody>
          <a:bodyPr anchor="ctr">
            <a:normAutofit/>
          </a:bodyPr>
          <a:lstStyle/>
          <a:p>
            <a:r>
              <a:rPr lang="en-US" dirty="0">
                <a:latin typeface="IBM Plex Sans SemiBold"/>
              </a:rPr>
              <a:t>RESULTS(SQL-EDA with SQL)</a:t>
            </a:r>
            <a:endParaRPr lang="en-US" dirty="0"/>
          </a:p>
        </p:txBody>
      </p:sp>
      <p:sp>
        <p:nvSpPr>
          <p:cNvPr id="4" name="TextBox 3">
            <a:extLst>
              <a:ext uri="{FF2B5EF4-FFF2-40B4-BE49-F238E27FC236}">
                <a16:creationId xmlns:a16="http://schemas.microsoft.com/office/drawing/2014/main" id="{1EB82E65-1E58-C0D2-29DB-CD215B09266B}"/>
              </a:ext>
            </a:extLst>
          </p:cNvPr>
          <p:cNvSpPr txBox="1"/>
          <p:nvPr/>
        </p:nvSpPr>
        <p:spPr>
          <a:xfrm>
            <a:off x="133586" y="1441216"/>
            <a:ext cx="11322754"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The names of the unique launch sites in the space mission</a:t>
            </a:r>
          </a:p>
          <a:p>
            <a:endParaRPr lang="en-US" dirty="0">
              <a:ea typeface="+mn-lt"/>
              <a:cs typeface="+mn-lt"/>
            </a:endParaRPr>
          </a:p>
          <a:p>
            <a:endParaRPr lang="en-US" dirty="0">
              <a:ea typeface="+mn-lt"/>
              <a:cs typeface="+mn-lt"/>
            </a:endParaRPr>
          </a:p>
          <a:p>
            <a:endParaRPr lang="en-US" dirty="0">
              <a:ea typeface="+mn-lt"/>
              <a:cs typeface="+mn-lt"/>
            </a:endParaRPr>
          </a:p>
          <a:p>
            <a:endParaRPr lang="en-US" dirty="0">
              <a:ea typeface="+mn-lt"/>
              <a:cs typeface="+mn-lt"/>
            </a:endParaRPr>
          </a:p>
          <a:p>
            <a:endParaRPr lang="en-US" dirty="0">
              <a:ea typeface="+mn-lt"/>
              <a:cs typeface="+mn-lt"/>
            </a:endParaRPr>
          </a:p>
          <a:p>
            <a:endParaRPr lang="en-US" dirty="0">
              <a:ea typeface="+mn-lt"/>
              <a:cs typeface="+mn-lt"/>
            </a:endParaRPr>
          </a:p>
          <a:p>
            <a:endParaRPr lang="en-US" dirty="0">
              <a:ea typeface="+mn-lt"/>
              <a:cs typeface="+mn-lt"/>
            </a:endParaRPr>
          </a:p>
          <a:p>
            <a:endParaRPr lang="en-US" dirty="0">
              <a:ea typeface="+mn-lt"/>
              <a:cs typeface="+mn-lt"/>
            </a:endParaRPr>
          </a:p>
          <a:p>
            <a:r>
              <a:rPr lang="en-US" dirty="0">
                <a:ea typeface="+mn-lt"/>
                <a:cs typeface="+mn-lt"/>
              </a:rPr>
              <a:t>5 records where launch sites begin with ‘CCA’</a:t>
            </a:r>
            <a:endParaRPr lang="en-US" dirty="0"/>
          </a:p>
          <a:p>
            <a:endParaRPr lang="en-US" dirty="0"/>
          </a:p>
          <a:p>
            <a:endParaRPr lang="en-US" dirty="0"/>
          </a:p>
        </p:txBody>
      </p:sp>
      <p:pic>
        <p:nvPicPr>
          <p:cNvPr id="5" name="Picture 4" descr="A screenshot of a phone&#10;&#10;AI-generated content may be incorrect.">
            <a:extLst>
              <a:ext uri="{FF2B5EF4-FFF2-40B4-BE49-F238E27FC236}">
                <a16:creationId xmlns:a16="http://schemas.microsoft.com/office/drawing/2014/main" id="{C14E74E0-1D26-19E5-F679-75385C343D23}"/>
              </a:ext>
            </a:extLst>
          </p:cNvPr>
          <p:cNvPicPr>
            <a:picLocks noChangeAspect="1"/>
          </p:cNvPicPr>
          <p:nvPr/>
        </p:nvPicPr>
        <p:blipFill>
          <a:blip r:embed="rId3"/>
          <a:stretch>
            <a:fillRect/>
          </a:stretch>
        </p:blipFill>
        <p:spPr>
          <a:xfrm>
            <a:off x="4991100" y="1937691"/>
            <a:ext cx="1946393" cy="2060693"/>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EEED6715-A157-05AB-A99F-CF82B54E55D3}"/>
              </a:ext>
            </a:extLst>
          </p:cNvPr>
          <p:cNvPicPr>
            <a:picLocks noChangeAspect="1"/>
          </p:cNvPicPr>
          <p:nvPr/>
        </p:nvPicPr>
        <p:blipFill>
          <a:blip r:embed="rId4"/>
          <a:stretch>
            <a:fillRect/>
          </a:stretch>
        </p:blipFill>
        <p:spPr>
          <a:xfrm>
            <a:off x="0" y="4502021"/>
            <a:ext cx="12192000" cy="1522846"/>
          </a:xfrm>
          <a:prstGeom prst="rect">
            <a:avLst/>
          </a:prstGeom>
        </p:spPr>
      </p:pic>
    </p:spTree>
    <p:custDataLst>
      <p:tags r:id="rId1"/>
    </p:custDataLst>
    <p:extLst>
      <p:ext uri="{BB962C8B-B14F-4D97-AF65-F5344CB8AC3E}">
        <p14:creationId xmlns:p14="http://schemas.microsoft.com/office/powerpoint/2010/main" val="14099591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04F00-ED29-DCB9-4F6A-5E6B76FB8B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CFB80E-15DD-3BA1-86D5-9FF8D6B78472}"/>
              </a:ext>
            </a:extLst>
          </p:cNvPr>
          <p:cNvSpPr>
            <a:spLocks noGrp="1"/>
          </p:cNvSpPr>
          <p:nvPr>
            <p:ph type="title"/>
          </p:nvPr>
        </p:nvSpPr>
        <p:spPr>
          <a:xfrm>
            <a:off x="838200" y="365125"/>
            <a:ext cx="10515600" cy="1325563"/>
          </a:xfrm>
        </p:spPr>
        <p:txBody>
          <a:bodyPr anchor="ctr">
            <a:normAutofit/>
          </a:bodyPr>
          <a:lstStyle/>
          <a:p>
            <a:r>
              <a:rPr lang="en-US" dirty="0">
                <a:latin typeface="IBM Plex Sans SemiBold"/>
              </a:rPr>
              <a:t>RESULTS(SQL-EDA with SQL)</a:t>
            </a:r>
            <a:endParaRPr lang="en-US" dirty="0"/>
          </a:p>
        </p:txBody>
      </p:sp>
      <p:sp>
        <p:nvSpPr>
          <p:cNvPr id="3" name="TextBox 2">
            <a:extLst>
              <a:ext uri="{FF2B5EF4-FFF2-40B4-BE49-F238E27FC236}">
                <a16:creationId xmlns:a16="http://schemas.microsoft.com/office/drawing/2014/main" id="{D7C43B7A-4794-F616-D361-D7614CCE11F4}"/>
              </a:ext>
            </a:extLst>
          </p:cNvPr>
          <p:cNvSpPr txBox="1"/>
          <p:nvPr/>
        </p:nvSpPr>
        <p:spPr>
          <a:xfrm>
            <a:off x="227660" y="1469437"/>
            <a:ext cx="11727273"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The total payload mass carried by boosters launched by NASA (CRS) </a:t>
            </a:r>
          </a:p>
          <a:p>
            <a:endParaRPr lang="en-US" dirty="0"/>
          </a:p>
          <a:p>
            <a:endParaRPr lang="en-US" dirty="0"/>
          </a:p>
          <a:p>
            <a:endParaRPr lang="en-US"/>
          </a:p>
          <a:p>
            <a:endParaRPr lang="en-US"/>
          </a:p>
          <a:p>
            <a:r>
              <a:rPr lang="en-US" dirty="0"/>
              <a:t>The average payload mass carried by booster version F9 v1.1 </a:t>
            </a:r>
          </a:p>
          <a:p>
            <a:endParaRPr lang="en-US" dirty="0"/>
          </a:p>
          <a:p>
            <a:endParaRPr lang="en-US" dirty="0"/>
          </a:p>
          <a:p>
            <a:endParaRPr lang="en-US"/>
          </a:p>
          <a:p>
            <a:endParaRPr lang="en-US" dirty="0"/>
          </a:p>
          <a:p>
            <a:endParaRPr lang="en-US" dirty="0"/>
          </a:p>
          <a:p>
            <a:r>
              <a:rPr lang="en-US" dirty="0"/>
              <a:t>The date when the first successful landing outcome in ground pad was achieved</a:t>
            </a:r>
          </a:p>
          <a:p>
            <a:endParaRPr lang="en-US" dirty="0"/>
          </a:p>
        </p:txBody>
      </p:sp>
      <p:pic>
        <p:nvPicPr>
          <p:cNvPr id="7" name="Picture 6" descr="A close-up of a person&amp;#39;s face&#10;&#10;AI-generated content may be incorrect.">
            <a:extLst>
              <a:ext uri="{FF2B5EF4-FFF2-40B4-BE49-F238E27FC236}">
                <a16:creationId xmlns:a16="http://schemas.microsoft.com/office/drawing/2014/main" id="{12F4C7C7-821B-9D19-4ED8-34E118B04EEF}"/>
              </a:ext>
            </a:extLst>
          </p:cNvPr>
          <p:cNvPicPr>
            <a:picLocks noChangeAspect="1"/>
          </p:cNvPicPr>
          <p:nvPr/>
        </p:nvPicPr>
        <p:blipFill>
          <a:blip r:embed="rId3"/>
          <a:stretch>
            <a:fillRect/>
          </a:stretch>
        </p:blipFill>
        <p:spPr>
          <a:xfrm>
            <a:off x="227307" y="1926519"/>
            <a:ext cx="4324350" cy="1001184"/>
          </a:xfrm>
          <a:prstGeom prst="rect">
            <a:avLst/>
          </a:prstGeom>
        </p:spPr>
      </p:pic>
      <p:pic>
        <p:nvPicPr>
          <p:cNvPr id="8" name="Picture 7" descr="A close-up of a text&#10;&#10;AI-generated content may be incorrect.">
            <a:extLst>
              <a:ext uri="{FF2B5EF4-FFF2-40B4-BE49-F238E27FC236}">
                <a16:creationId xmlns:a16="http://schemas.microsoft.com/office/drawing/2014/main" id="{8C2773CE-9A2E-5BC4-31E4-EB9B53F086D2}"/>
              </a:ext>
            </a:extLst>
          </p:cNvPr>
          <p:cNvPicPr>
            <a:picLocks noChangeAspect="1"/>
          </p:cNvPicPr>
          <p:nvPr/>
        </p:nvPicPr>
        <p:blipFill>
          <a:blip r:embed="rId4"/>
          <a:stretch>
            <a:fillRect/>
          </a:stretch>
        </p:blipFill>
        <p:spPr>
          <a:xfrm>
            <a:off x="227424" y="3432645"/>
            <a:ext cx="5829300" cy="933450"/>
          </a:xfrm>
          <a:prstGeom prst="rect">
            <a:avLst/>
          </a:prstGeom>
        </p:spPr>
      </p:pic>
      <p:pic>
        <p:nvPicPr>
          <p:cNvPr id="9" name="Picture 8" descr="A close-up of a white background&#10;&#10;AI-generated content may be incorrect.">
            <a:extLst>
              <a:ext uri="{FF2B5EF4-FFF2-40B4-BE49-F238E27FC236}">
                <a16:creationId xmlns:a16="http://schemas.microsoft.com/office/drawing/2014/main" id="{FD34803E-A367-33DA-24F4-F68A463D0A17}"/>
              </a:ext>
            </a:extLst>
          </p:cNvPr>
          <p:cNvPicPr>
            <a:picLocks noChangeAspect="1"/>
          </p:cNvPicPr>
          <p:nvPr/>
        </p:nvPicPr>
        <p:blipFill>
          <a:blip r:embed="rId5"/>
          <a:stretch>
            <a:fillRect/>
          </a:stretch>
        </p:blipFill>
        <p:spPr>
          <a:xfrm>
            <a:off x="223779" y="5002506"/>
            <a:ext cx="6419850" cy="1123950"/>
          </a:xfrm>
          <a:prstGeom prst="rect">
            <a:avLst/>
          </a:prstGeom>
        </p:spPr>
      </p:pic>
    </p:spTree>
    <p:custDataLst>
      <p:tags r:id="rId1"/>
    </p:custDataLst>
    <p:extLst>
      <p:ext uri="{BB962C8B-B14F-4D97-AF65-F5344CB8AC3E}">
        <p14:creationId xmlns:p14="http://schemas.microsoft.com/office/powerpoint/2010/main" val="23345932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7CE6E-AC15-0277-673B-37CAA23FE9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B0993A-0073-14E9-1816-6F78E009F057}"/>
              </a:ext>
            </a:extLst>
          </p:cNvPr>
          <p:cNvSpPr>
            <a:spLocks noGrp="1"/>
          </p:cNvSpPr>
          <p:nvPr>
            <p:ph type="title"/>
          </p:nvPr>
        </p:nvSpPr>
        <p:spPr>
          <a:xfrm>
            <a:off x="838200" y="365125"/>
            <a:ext cx="10515600" cy="1325563"/>
          </a:xfrm>
        </p:spPr>
        <p:txBody>
          <a:bodyPr anchor="ctr">
            <a:normAutofit/>
          </a:bodyPr>
          <a:lstStyle/>
          <a:p>
            <a:r>
              <a:rPr lang="en-US" dirty="0">
                <a:latin typeface="IBM Plex Sans SemiBold"/>
              </a:rPr>
              <a:t>RESULTS(SQL-EDA with SQL)</a:t>
            </a:r>
            <a:endParaRPr lang="en-US" dirty="0"/>
          </a:p>
        </p:txBody>
      </p:sp>
      <p:sp>
        <p:nvSpPr>
          <p:cNvPr id="4" name="TextBox 3">
            <a:extLst>
              <a:ext uri="{FF2B5EF4-FFF2-40B4-BE49-F238E27FC236}">
                <a16:creationId xmlns:a16="http://schemas.microsoft.com/office/drawing/2014/main" id="{FFC27A71-4BF4-B2C4-5B57-0AEA00716C73}"/>
              </a:ext>
            </a:extLst>
          </p:cNvPr>
          <p:cNvSpPr txBox="1"/>
          <p:nvPr/>
        </p:nvSpPr>
        <p:spPr>
          <a:xfrm>
            <a:off x="190030" y="1695215"/>
            <a:ext cx="11661421"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The names of the boosters which have success in drone ship and have payload mass greater than 4000 but less than 6000</a:t>
            </a:r>
          </a:p>
          <a:p>
            <a:endParaRPr lang="en-US" dirty="0"/>
          </a:p>
          <a:p>
            <a:endParaRPr lang="en-US" dirty="0"/>
          </a:p>
        </p:txBody>
      </p:sp>
      <p:pic>
        <p:nvPicPr>
          <p:cNvPr id="5" name="Picture 4" descr="A screenshot of a phone&#10;&#10;AI-generated content may be incorrect.">
            <a:extLst>
              <a:ext uri="{FF2B5EF4-FFF2-40B4-BE49-F238E27FC236}">
                <a16:creationId xmlns:a16="http://schemas.microsoft.com/office/drawing/2014/main" id="{381F1D7A-2027-8E0F-DAFE-628BFFAFB4E3}"/>
              </a:ext>
            </a:extLst>
          </p:cNvPr>
          <p:cNvPicPr>
            <a:picLocks noChangeAspect="1"/>
          </p:cNvPicPr>
          <p:nvPr/>
        </p:nvPicPr>
        <p:blipFill>
          <a:blip r:embed="rId3"/>
          <a:stretch>
            <a:fillRect/>
          </a:stretch>
        </p:blipFill>
        <p:spPr>
          <a:xfrm>
            <a:off x="4962525" y="2209800"/>
            <a:ext cx="2266950" cy="2438400"/>
          </a:xfrm>
          <a:prstGeom prst="rect">
            <a:avLst/>
          </a:prstGeom>
        </p:spPr>
      </p:pic>
      <p:sp>
        <p:nvSpPr>
          <p:cNvPr id="6" name="TextBox 5">
            <a:extLst>
              <a:ext uri="{FF2B5EF4-FFF2-40B4-BE49-F238E27FC236}">
                <a16:creationId xmlns:a16="http://schemas.microsoft.com/office/drawing/2014/main" id="{0F11032F-B9E1-6F7C-6784-34363C8DACB6}"/>
              </a:ext>
            </a:extLst>
          </p:cNvPr>
          <p:cNvSpPr txBox="1"/>
          <p:nvPr/>
        </p:nvSpPr>
        <p:spPr>
          <a:xfrm>
            <a:off x="190030" y="4649141"/>
            <a:ext cx="727757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The total number of successful and failure mission outcomes</a:t>
            </a:r>
          </a:p>
        </p:txBody>
      </p:sp>
      <p:pic>
        <p:nvPicPr>
          <p:cNvPr id="10" name="Picture 9" descr="A close-up of a number&#10;&#10;AI-generated content may be incorrect.">
            <a:extLst>
              <a:ext uri="{FF2B5EF4-FFF2-40B4-BE49-F238E27FC236}">
                <a16:creationId xmlns:a16="http://schemas.microsoft.com/office/drawing/2014/main" id="{07647CD5-9350-6A1D-E11A-91687EFA7131}"/>
              </a:ext>
            </a:extLst>
          </p:cNvPr>
          <p:cNvPicPr>
            <a:picLocks noChangeAspect="1"/>
          </p:cNvPicPr>
          <p:nvPr/>
        </p:nvPicPr>
        <p:blipFill>
          <a:blip r:embed="rId4"/>
          <a:stretch>
            <a:fillRect/>
          </a:stretch>
        </p:blipFill>
        <p:spPr>
          <a:xfrm>
            <a:off x="190265" y="5115983"/>
            <a:ext cx="7277100" cy="1028700"/>
          </a:xfrm>
          <a:prstGeom prst="rect">
            <a:avLst/>
          </a:prstGeom>
        </p:spPr>
      </p:pic>
    </p:spTree>
    <p:custDataLst>
      <p:tags r:id="rId1"/>
    </p:custDataLst>
    <p:extLst>
      <p:ext uri="{BB962C8B-B14F-4D97-AF65-F5344CB8AC3E}">
        <p14:creationId xmlns:p14="http://schemas.microsoft.com/office/powerpoint/2010/main" val="38502085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C272A-D23C-D96B-C5AC-0077D882EE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8FD0F0-43AE-5CF4-91F5-59E39D658EF7}"/>
              </a:ext>
            </a:extLst>
          </p:cNvPr>
          <p:cNvSpPr>
            <a:spLocks noGrp="1"/>
          </p:cNvSpPr>
          <p:nvPr>
            <p:ph type="title"/>
          </p:nvPr>
        </p:nvSpPr>
        <p:spPr>
          <a:xfrm>
            <a:off x="838200" y="365125"/>
            <a:ext cx="10515600" cy="1325563"/>
          </a:xfrm>
        </p:spPr>
        <p:txBody>
          <a:bodyPr anchor="ctr">
            <a:normAutofit/>
          </a:bodyPr>
          <a:lstStyle/>
          <a:p>
            <a:r>
              <a:rPr lang="en-US" dirty="0">
                <a:latin typeface="IBM Plex Sans SemiBold"/>
              </a:rPr>
              <a:t>RESULTS(SQL-EDA with SQL)</a:t>
            </a:r>
            <a:endParaRPr lang="en-US" dirty="0"/>
          </a:p>
        </p:txBody>
      </p:sp>
      <p:sp>
        <p:nvSpPr>
          <p:cNvPr id="4" name="TextBox 3">
            <a:extLst>
              <a:ext uri="{FF2B5EF4-FFF2-40B4-BE49-F238E27FC236}">
                <a16:creationId xmlns:a16="http://schemas.microsoft.com/office/drawing/2014/main" id="{EADDBE81-635E-8A14-AC04-42D76FD83A9D}"/>
              </a:ext>
            </a:extLst>
          </p:cNvPr>
          <p:cNvSpPr txBox="1"/>
          <p:nvPr/>
        </p:nvSpPr>
        <p:spPr>
          <a:xfrm>
            <a:off x="190030" y="1695215"/>
            <a:ext cx="1166142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The names of the booster versions which have carried the maximum payload mass</a:t>
            </a:r>
            <a:endParaRPr lang="en-US" dirty="0"/>
          </a:p>
          <a:p>
            <a:endParaRPr lang="en-US" dirty="0"/>
          </a:p>
          <a:p>
            <a:endParaRPr lang="en-US" dirty="0"/>
          </a:p>
        </p:txBody>
      </p:sp>
      <p:pic>
        <p:nvPicPr>
          <p:cNvPr id="3" name="Picture 2" descr="A screenshot of a phone&#10;&#10;AI-generated content may be incorrect.">
            <a:extLst>
              <a:ext uri="{FF2B5EF4-FFF2-40B4-BE49-F238E27FC236}">
                <a16:creationId xmlns:a16="http://schemas.microsoft.com/office/drawing/2014/main" id="{54B85963-D3F6-B7F6-9583-C2FD64EA255C}"/>
              </a:ext>
            </a:extLst>
          </p:cNvPr>
          <p:cNvPicPr>
            <a:picLocks noChangeAspect="1"/>
          </p:cNvPicPr>
          <p:nvPr/>
        </p:nvPicPr>
        <p:blipFill>
          <a:blip r:embed="rId3"/>
          <a:stretch>
            <a:fillRect/>
          </a:stretch>
        </p:blipFill>
        <p:spPr>
          <a:xfrm>
            <a:off x="3184525" y="2160059"/>
            <a:ext cx="2445690" cy="4362920"/>
          </a:xfrm>
          <a:prstGeom prst="rect">
            <a:avLst/>
          </a:prstGeom>
        </p:spPr>
      </p:pic>
    </p:spTree>
    <p:custDataLst>
      <p:tags r:id="rId1"/>
    </p:custDataLst>
    <p:extLst>
      <p:ext uri="{BB962C8B-B14F-4D97-AF65-F5344CB8AC3E}">
        <p14:creationId xmlns:p14="http://schemas.microsoft.com/office/powerpoint/2010/main" val="13287523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892FE-C4A3-D0C5-8380-344757FB12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5A1CA2-B9FA-F84F-A0A0-D1A4C683B2D6}"/>
              </a:ext>
            </a:extLst>
          </p:cNvPr>
          <p:cNvSpPr>
            <a:spLocks noGrp="1"/>
          </p:cNvSpPr>
          <p:nvPr>
            <p:ph type="title"/>
          </p:nvPr>
        </p:nvSpPr>
        <p:spPr>
          <a:xfrm>
            <a:off x="838200" y="365125"/>
            <a:ext cx="10515600" cy="1325563"/>
          </a:xfrm>
        </p:spPr>
        <p:txBody>
          <a:bodyPr anchor="ctr">
            <a:normAutofit/>
          </a:bodyPr>
          <a:lstStyle/>
          <a:p>
            <a:r>
              <a:rPr lang="en-US" dirty="0">
                <a:latin typeface="IBM Plex Sans SemiBold"/>
              </a:rPr>
              <a:t>RESULTS(SQL-EDA with SQL)</a:t>
            </a:r>
            <a:endParaRPr lang="en-US" dirty="0"/>
          </a:p>
        </p:txBody>
      </p:sp>
      <p:sp>
        <p:nvSpPr>
          <p:cNvPr id="4" name="TextBox 3">
            <a:extLst>
              <a:ext uri="{FF2B5EF4-FFF2-40B4-BE49-F238E27FC236}">
                <a16:creationId xmlns:a16="http://schemas.microsoft.com/office/drawing/2014/main" id="{929938F7-2BA8-E48D-7639-C9C567067455}"/>
              </a:ext>
            </a:extLst>
          </p:cNvPr>
          <p:cNvSpPr txBox="1"/>
          <p:nvPr/>
        </p:nvSpPr>
        <p:spPr>
          <a:xfrm>
            <a:off x="190030" y="1695215"/>
            <a:ext cx="1166142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The failed landing outcomes in drone ship, their booster versions, and launch site names for in year 2015</a:t>
            </a:r>
            <a:endParaRPr lang="en-US" dirty="0"/>
          </a:p>
        </p:txBody>
      </p:sp>
      <p:pic>
        <p:nvPicPr>
          <p:cNvPr id="5" name="Picture 4" descr="A close-up of a computer code&#10;&#10;AI-generated content may be incorrect.">
            <a:extLst>
              <a:ext uri="{FF2B5EF4-FFF2-40B4-BE49-F238E27FC236}">
                <a16:creationId xmlns:a16="http://schemas.microsoft.com/office/drawing/2014/main" id="{A8215E09-8CB4-873E-2061-4ADA8D185822}"/>
              </a:ext>
            </a:extLst>
          </p:cNvPr>
          <p:cNvPicPr>
            <a:picLocks noChangeAspect="1"/>
          </p:cNvPicPr>
          <p:nvPr/>
        </p:nvPicPr>
        <p:blipFill>
          <a:blip r:embed="rId3"/>
          <a:stretch>
            <a:fillRect/>
          </a:stretch>
        </p:blipFill>
        <p:spPr>
          <a:xfrm>
            <a:off x="3229916" y="2346795"/>
            <a:ext cx="5581650" cy="1581150"/>
          </a:xfrm>
          <a:prstGeom prst="rect">
            <a:avLst/>
          </a:prstGeom>
        </p:spPr>
      </p:pic>
      <p:sp>
        <p:nvSpPr>
          <p:cNvPr id="6" name="TextBox 5">
            <a:extLst>
              <a:ext uri="{FF2B5EF4-FFF2-40B4-BE49-F238E27FC236}">
                <a16:creationId xmlns:a16="http://schemas.microsoft.com/office/drawing/2014/main" id="{AE3037FE-4B8D-8412-95FC-6F919F5D491F}"/>
              </a:ext>
            </a:extLst>
          </p:cNvPr>
          <p:cNvSpPr txBox="1"/>
          <p:nvPr/>
        </p:nvSpPr>
        <p:spPr>
          <a:xfrm>
            <a:off x="190030" y="3934178"/>
            <a:ext cx="1100290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The count of landing outcomes between the date 2010-06-04 and 2017-03-20, in descending order</a:t>
            </a:r>
          </a:p>
        </p:txBody>
      </p:sp>
      <p:pic>
        <p:nvPicPr>
          <p:cNvPr id="7" name="Picture 6" descr="A screenshot of a phone&#10;&#10;AI-generated content may be incorrect.">
            <a:extLst>
              <a:ext uri="{FF2B5EF4-FFF2-40B4-BE49-F238E27FC236}">
                <a16:creationId xmlns:a16="http://schemas.microsoft.com/office/drawing/2014/main" id="{A9E5D8A6-021E-F098-3B77-A4B4FBCE3707}"/>
              </a:ext>
            </a:extLst>
          </p:cNvPr>
          <p:cNvPicPr>
            <a:picLocks noChangeAspect="1"/>
          </p:cNvPicPr>
          <p:nvPr/>
        </p:nvPicPr>
        <p:blipFill>
          <a:blip r:embed="rId4"/>
          <a:stretch>
            <a:fillRect/>
          </a:stretch>
        </p:blipFill>
        <p:spPr>
          <a:xfrm>
            <a:off x="4101864" y="4443824"/>
            <a:ext cx="2370197" cy="2410648"/>
          </a:xfrm>
          <a:prstGeom prst="rect">
            <a:avLst/>
          </a:prstGeom>
        </p:spPr>
      </p:pic>
    </p:spTree>
    <p:custDataLst>
      <p:tags r:id="rId1"/>
    </p:custDataLst>
    <p:extLst>
      <p:ext uri="{BB962C8B-B14F-4D97-AF65-F5344CB8AC3E}">
        <p14:creationId xmlns:p14="http://schemas.microsoft.com/office/powerpoint/2010/main" val="13349436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D8F94-E2F5-4299-C009-ACD50380B1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7176BF-77A4-6603-24E4-B32766DEA951}"/>
              </a:ext>
            </a:extLst>
          </p:cNvPr>
          <p:cNvSpPr>
            <a:spLocks noGrp="1"/>
          </p:cNvSpPr>
          <p:nvPr>
            <p:ph type="title"/>
          </p:nvPr>
        </p:nvSpPr>
        <p:spPr>
          <a:xfrm>
            <a:off x="189089" y="365125"/>
            <a:ext cx="11691525" cy="648229"/>
          </a:xfrm>
        </p:spPr>
        <p:txBody>
          <a:bodyPr anchor="ctr">
            <a:normAutofit fontScale="90000"/>
          </a:bodyPr>
          <a:lstStyle/>
          <a:p>
            <a:r>
              <a:rPr lang="en-US" dirty="0">
                <a:latin typeface="IBM Plex Sans SemiBold"/>
              </a:rPr>
              <a:t>RESULTS</a:t>
            </a:r>
            <a:br>
              <a:rPr lang="en-US" dirty="0">
                <a:latin typeface="IBM Plex Sans SemiBold"/>
              </a:rPr>
            </a:br>
            <a:r>
              <a:rPr lang="en-US" b="0" dirty="0">
                <a:latin typeface="IBM Plex Sans SemiBold"/>
              </a:rPr>
              <a:t>Matplotlib and Seaborn (EDA with Visualization</a:t>
            </a:r>
            <a:r>
              <a:rPr lang="en-US" dirty="0">
                <a:latin typeface="IBM Plex Sans SemiBold"/>
              </a:rPr>
              <a:t>)</a:t>
            </a:r>
            <a:endParaRPr lang="en-US" dirty="0"/>
          </a:p>
        </p:txBody>
      </p:sp>
      <p:sp>
        <p:nvSpPr>
          <p:cNvPr id="3" name="TextBox 2">
            <a:extLst>
              <a:ext uri="{FF2B5EF4-FFF2-40B4-BE49-F238E27FC236}">
                <a16:creationId xmlns:a16="http://schemas.microsoft.com/office/drawing/2014/main" id="{79450CF3-DEFF-0DA0-9175-2B168CA63882}"/>
              </a:ext>
            </a:extLst>
          </p:cNvPr>
          <p:cNvSpPr txBox="1"/>
          <p:nvPr/>
        </p:nvSpPr>
        <p:spPr>
          <a:xfrm>
            <a:off x="190030" y="1535289"/>
            <a:ext cx="993045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The relationship between flight number and launch site</a:t>
            </a:r>
          </a:p>
        </p:txBody>
      </p:sp>
      <p:pic>
        <p:nvPicPr>
          <p:cNvPr id="4" name="Picture 3" descr="A graph with dots and numbers&#10;&#10;AI-generated content may be incorrect.">
            <a:extLst>
              <a:ext uri="{FF2B5EF4-FFF2-40B4-BE49-F238E27FC236}">
                <a16:creationId xmlns:a16="http://schemas.microsoft.com/office/drawing/2014/main" id="{CD2A0EA5-41E2-93D1-9061-AF5E3AB361B2}"/>
              </a:ext>
            </a:extLst>
          </p:cNvPr>
          <p:cNvPicPr>
            <a:picLocks noChangeAspect="1"/>
          </p:cNvPicPr>
          <p:nvPr/>
        </p:nvPicPr>
        <p:blipFill>
          <a:blip r:embed="rId3"/>
          <a:stretch>
            <a:fillRect/>
          </a:stretch>
        </p:blipFill>
        <p:spPr>
          <a:xfrm>
            <a:off x="1646296" y="1899206"/>
            <a:ext cx="8391408" cy="4677663"/>
          </a:xfrm>
          <a:prstGeom prst="rect">
            <a:avLst/>
          </a:prstGeom>
        </p:spPr>
      </p:pic>
    </p:spTree>
    <p:custDataLst>
      <p:tags r:id="rId1"/>
    </p:custDataLst>
    <p:extLst>
      <p:ext uri="{BB962C8B-B14F-4D97-AF65-F5344CB8AC3E}">
        <p14:creationId xmlns:p14="http://schemas.microsoft.com/office/powerpoint/2010/main" val="9346423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99AD7-CFEF-67C3-BB5C-4EF26C125C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46403E-1F91-6B10-C16A-17D858533B6D}"/>
              </a:ext>
            </a:extLst>
          </p:cNvPr>
          <p:cNvSpPr>
            <a:spLocks noGrp="1"/>
          </p:cNvSpPr>
          <p:nvPr>
            <p:ph type="title"/>
          </p:nvPr>
        </p:nvSpPr>
        <p:spPr>
          <a:xfrm>
            <a:off x="189089" y="365125"/>
            <a:ext cx="11691525" cy="648229"/>
          </a:xfrm>
        </p:spPr>
        <p:txBody>
          <a:bodyPr anchor="ctr">
            <a:normAutofit fontScale="90000"/>
          </a:bodyPr>
          <a:lstStyle/>
          <a:p>
            <a:r>
              <a:rPr lang="en-US" dirty="0">
                <a:latin typeface="IBM Plex Sans SemiBold"/>
              </a:rPr>
              <a:t>RESULTS</a:t>
            </a:r>
            <a:br>
              <a:rPr lang="en-US" dirty="0">
                <a:latin typeface="IBM Plex Sans SemiBold"/>
              </a:rPr>
            </a:br>
            <a:r>
              <a:rPr lang="en-US" b="0" dirty="0">
                <a:latin typeface="IBM Plex Sans SemiBold"/>
              </a:rPr>
              <a:t>Matplotlib and Seaborn (EDA with Visualization</a:t>
            </a:r>
            <a:r>
              <a:rPr lang="en-US" dirty="0">
                <a:latin typeface="IBM Plex Sans SemiBold"/>
              </a:rPr>
              <a:t>)</a:t>
            </a:r>
            <a:endParaRPr lang="en-US" dirty="0"/>
          </a:p>
        </p:txBody>
      </p:sp>
      <p:sp>
        <p:nvSpPr>
          <p:cNvPr id="3" name="TextBox 2">
            <a:extLst>
              <a:ext uri="{FF2B5EF4-FFF2-40B4-BE49-F238E27FC236}">
                <a16:creationId xmlns:a16="http://schemas.microsoft.com/office/drawing/2014/main" id="{F97E68DB-2B8A-4882-7B98-6A2F7F8EB37B}"/>
              </a:ext>
            </a:extLst>
          </p:cNvPr>
          <p:cNvSpPr txBox="1"/>
          <p:nvPr/>
        </p:nvSpPr>
        <p:spPr>
          <a:xfrm>
            <a:off x="190030" y="1535289"/>
            <a:ext cx="993045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The relationship between payload mass and launch site</a:t>
            </a:r>
          </a:p>
        </p:txBody>
      </p:sp>
      <p:pic>
        <p:nvPicPr>
          <p:cNvPr id="5" name="Picture 4" descr="A graph of a load mass&#10;&#10;AI-generated content may be incorrect.">
            <a:extLst>
              <a:ext uri="{FF2B5EF4-FFF2-40B4-BE49-F238E27FC236}">
                <a16:creationId xmlns:a16="http://schemas.microsoft.com/office/drawing/2014/main" id="{F16287BD-7EF1-439E-9513-326E03A76185}"/>
              </a:ext>
            </a:extLst>
          </p:cNvPr>
          <p:cNvPicPr>
            <a:picLocks noChangeAspect="1"/>
          </p:cNvPicPr>
          <p:nvPr/>
        </p:nvPicPr>
        <p:blipFill>
          <a:blip r:embed="rId3"/>
          <a:stretch>
            <a:fillRect/>
          </a:stretch>
        </p:blipFill>
        <p:spPr>
          <a:xfrm>
            <a:off x="1890889" y="2043051"/>
            <a:ext cx="7591778" cy="4117158"/>
          </a:xfrm>
          <a:prstGeom prst="rect">
            <a:avLst/>
          </a:prstGeom>
        </p:spPr>
      </p:pic>
    </p:spTree>
    <p:custDataLst>
      <p:tags r:id="rId1"/>
    </p:custDataLst>
    <p:extLst>
      <p:ext uri="{BB962C8B-B14F-4D97-AF65-F5344CB8AC3E}">
        <p14:creationId xmlns:p14="http://schemas.microsoft.com/office/powerpoint/2010/main" val="13146281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76346-FE95-9437-86D2-C3ACE51C52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2B8D6B-3FE9-0182-D51F-97B706B38680}"/>
              </a:ext>
            </a:extLst>
          </p:cNvPr>
          <p:cNvSpPr>
            <a:spLocks noGrp="1"/>
          </p:cNvSpPr>
          <p:nvPr>
            <p:ph type="title"/>
          </p:nvPr>
        </p:nvSpPr>
        <p:spPr>
          <a:xfrm>
            <a:off x="189089" y="365125"/>
            <a:ext cx="11691525" cy="648229"/>
          </a:xfrm>
        </p:spPr>
        <p:txBody>
          <a:bodyPr anchor="ctr">
            <a:normAutofit fontScale="90000"/>
          </a:bodyPr>
          <a:lstStyle/>
          <a:p>
            <a:r>
              <a:rPr lang="en-US" dirty="0">
                <a:latin typeface="IBM Plex Sans SemiBold"/>
              </a:rPr>
              <a:t>RESULTS</a:t>
            </a:r>
            <a:br>
              <a:rPr lang="en-US" dirty="0">
                <a:latin typeface="IBM Plex Sans SemiBold"/>
              </a:rPr>
            </a:br>
            <a:r>
              <a:rPr lang="en-US" b="0" dirty="0">
                <a:latin typeface="IBM Plex Sans SemiBold"/>
              </a:rPr>
              <a:t>Matplotlib and Seaborn (EDA with Visualization</a:t>
            </a:r>
            <a:r>
              <a:rPr lang="en-US" dirty="0">
                <a:latin typeface="IBM Plex Sans SemiBold"/>
              </a:rPr>
              <a:t>)</a:t>
            </a:r>
            <a:endParaRPr lang="en-US" dirty="0"/>
          </a:p>
        </p:txBody>
      </p:sp>
      <p:sp>
        <p:nvSpPr>
          <p:cNvPr id="3" name="TextBox 2">
            <a:extLst>
              <a:ext uri="{FF2B5EF4-FFF2-40B4-BE49-F238E27FC236}">
                <a16:creationId xmlns:a16="http://schemas.microsoft.com/office/drawing/2014/main" id="{6C45E0BB-F07C-4EAD-115F-FCE06E2AF1C8}"/>
              </a:ext>
            </a:extLst>
          </p:cNvPr>
          <p:cNvSpPr txBox="1"/>
          <p:nvPr/>
        </p:nvSpPr>
        <p:spPr>
          <a:xfrm>
            <a:off x="190030" y="1535289"/>
            <a:ext cx="993045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The relationship between success rate and orbit type</a:t>
            </a:r>
            <a:endParaRPr lang="en-US" dirty="0"/>
          </a:p>
        </p:txBody>
      </p:sp>
      <p:pic>
        <p:nvPicPr>
          <p:cNvPr id="4" name="Picture 3" descr="A graph of different colored bars&#10;&#10;AI-generated content may be incorrect.">
            <a:extLst>
              <a:ext uri="{FF2B5EF4-FFF2-40B4-BE49-F238E27FC236}">
                <a16:creationId xmlns:a16="http://schemas.microsoft.com/office/drawing/2014/main" id="{C04BC62B-9EE6-854B-242D-49B1BE7ACAD2}"/>
              </a:ext>
            </a:extLst>
          </p:cNvPr>
          <p:cNvPicPr>
            <a:picLocks noChangeAspect="1"/>
          </p:cNvPicPr>
          <p:nvPr/>
        </p:nvPicPr>
        <p:blipFill>
          <a:blip r:embed="rId3"/>
          <a:stretch>
            <a:fillRect/>
          </a:stretch>
        </p:blipFill>
        <p:spPr>
          <a:xfrm>
            <a:off x="2247312" y="2107260"/>
            <a:ext cx="6267450" cy="4346222"/>
          </a:xfrm>
          <a:prstGeom prst="rect">
            <a:avLst/>
          </a:prstGeom>
        </p:spPr>
      </p:pic>
    </p:spTree>
    <p:custDataLst>
      <p:tags r:id="rId1"/>
    </p:custDataLst>
    <p:extLst>
      <p:ext uri="{BB962C8B-B14F-4D97-AF65-F5344CB8AC3E}">
        <p14:creationId xmlns:p14="http://schemas.microsoft.com/office/powerpoint/2010/main" val="28791448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2CC2C-3629-C8E7-CEBB-B826352F09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838F6C-3B3B-FC44-F464-3D4F170756D7}"/>
              </a:ext>
            </a:extLst>
          </p:cNvPr>
          <p:cNvSpPr>
            <a:spLocks noGrp="1"/>
          </p:cNvSpPr>
          <p:nvPr>
            <p:ph type="title"/>
          </p:nvPr>
        </p:nvSpPr>
        <p:spPr>
          <a:xfrm>
            <a:off x="189089" y="365125"/>
            <a:ext cx="11691525" cy="648229"/>
          </a:xfrm>
        </p:spPr>
        <p:txBody>
          <a:bodyPr anchor="ctr">
            <a:normAutofit fontScale="90000"/>
          </a:bodyPr>
          <a:lstStyle/>
          <a:p>
            <a:r>
              <a:rPr lang="en-US" dirty="0">
                <a:latin typeface="IBM Plex Sans SemiBold"/>
              </a:rPr>
              <a:t>RESULTS</a:t>
            </a:r>
            <a:br>
              <a:rPr lang="en-US" dirty="0">
                <a:latin typeface="IBM Plex Sans SemiBold"/>
              </a:rPr>
            </a:br>
            <a:r>
              <a:rPr lang="en-US" b="0" dirty="0">
                <a:latin typeface="IBM Plex Sans SemiBold"/>
              </a:rPr>
              <a:t>Matplotlib and Seaborn (EDA with Visualization</a:t>
            </a:r>
            <a:r>
              <a:rPr lang="en-US" dirty="0">
                <a:latin typeface="IBM Plex Sans SemiBold"/>
              </a:rPr>
              <a:t>)</a:t>
            </a:r>
            <a:endParaRPr lang="en-US" dirty="0"/>
          </a:p>
        </p:txBody>
      </p:sp>
      <p:sp>
        <p:nvSpPr>
          <p:cNvPr id="3" name="TextBox 2">
            <a:extLst>
              <a:ext uri="{FF2B5EF4-FFF2-40B4-BE49-F238E27FC236}">
                <a16:creationId xmlns:a16="http://schemas.microsoft.com/office/drawing/2014/main" id="{FE7CD9A6-3C6F-0B9B-54AB-FF47EC847A00}"/>
              </a:ext>
            </a:extLst>
          </p:cNvPr>
          <p:cNvSpPr txBox="1"/>
          <p:nvPr/>
        </p:nvSpPr>
        <p:spPr>
          <a:xfrm>
            <a:off x="190030" y="1535289"/>
            <a:ext cx="993045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The relationship between flight number and orbit type</a:t>
            </a:r>
          </a:p>
        </p:txBody>
      </p:sp>
      <p:pic>
        <p:nvPicPr>
          <p:cNvPr id="5" name="Picture 4" descr="A graph of flight number&#10;&#10;AI-generated content may be incorrect.">
            <a:extLst>
              <a:ext uri="{FF2B5EF4-FFF2-40B4-BE49-F238E27FC236}">
                <a16:creationId xmlns:a16="http://schemas.microsoft.com/office/drawing/2014/main" id="{E74E62A4-469E-0D86-039C-09950B56F29D}"/>
              </a:ext>
            </a:extLst>
          </p:cNvPr>
          <p:cNvPicPr>
            <a:picLocks noChangeAspect="1"/>
          </p:cNvPicPr>
          <p:nvPr/>
        </p:nvPicPr>
        <p:blipFill>
          <a:blip r:embed="rId3"/>
          <a:stretch>
            <a:fillRect/>
          </a:stretch>
        </p:blipFill>
        <p:spPr>
          <a:xfrm>
            <a:off x="1949222" y="1900296"/>
            <a:ext cx="8284147" cy="4694297"/>
          </a:xfrm>
          <a:prstGeom prst="rect">
            <a:avLst/>
          </a:prstGeom>
        </p:spPr>
      </p:pic>
    </p:spTree>
    <p:custDataLst>
      <p:tags r:id="rId1"/>
    </p:custDataLst>
    <p:extLst>
      <p:ext uri="{BB962C8B-B14F-4D97-AF65-F5344CB8AC3E}">
        <p14:creationId xmlns:p14="http://schemas.microsoft.com/office/powerpoint/2010/main" val="24256892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F07CA-8944-1614-DFBB-7F607A4BC1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4771A0-C443-37BF-FBAC-35E0EA78D2D2}"/>
              </a:ext>
            </a:extLst>
          </p:cNvPr>
          <p:cNvSpPr>
            <a:spLocks noGrp="1"/>
          </p:cNvSpPr>
          <p:nvPr>
            <p:ph type="title"/>
          </p:nvPr>
        </p:nvSpPr>
        <p:spPr>
          <a:xfrm>
            <a:off x="189089" y="365125"/>
            <a:ext cx="11691525" cy="648229"/>
          </a:xfrm>
        </p:spPr>
        <p:txBody>
          <a:bodyPr anchor="ctr">
            <a:normAutofit fontScale="90000"/>
          </a:bodyPr>
          <a:lstStyle/>
          <a:p>
            <a:r>
              <a:rPr lang="en-US" dirty="0">
                <a:latin typeface="IBM Plex Sans SemiBold"/>
              </a:rPr>
              <a:t>RESULTS</a:t>
            </a:r>
            <a:br>
              <a:rPr lang="en-US" dirty="0">
                <a:latin typeface="IBM Plex Sans SemiBold"/>
              </a:rPr>
            </a:br>
            <a:r>
              <a:rPr lang="en-US" b="0" dirty="0">
                <a:latin typeface="IBM Plex Sans SemiBold"/>
              </a:rPr>
              <a:t>Matplotlib and Seaborn (EDA with Visualization</a:t>
            </a:r>
            <a:r>
              <a:rPr lang="en-US" dirty="0">
                <a:latin typeface="IBM Plex Sans SemiBold"/>
              </a:rPr>
              <a:t>)</a:t>
            </a:r>
            <a:endParaRPr lang="en-US" dirty="0"/>
          </a:p>
        </p:txBody>
      </p:sp>
      <p:sp>
        <p:nvSpPr>
          <p:cNvPr id="3" name="TextBox 2">
            <a:extLst>
              <a:ext uri="{FF2B5EF4-FFF2-40B4-BE49-F238E27FC236}">
                <a16:creationId xmlns:a16="http://schemas.microsoft.com/office/drawing/2014/main" id="{7A8AA763-D7F4-2421-F4DF-8204196A7C3F}"/>
              </a:ext>
            </a:extLst>
          </p:cNvPr>
          <p:cNvSpPr txBox="1"/>
          <p:nvPr/>
        </p:nvSpPr>
        <p:spPr>
          <a:xfrm>
            <a:off x="190030" y="1535289"/>
            <a:ext cx="993045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The relationship between payload mass and orbit type</a:t>
            </a:r>
          </a:p>
        </p:txBody>
      </p:sp>
      <p:pic>
        <p:nvPicPr>
          <p:cNvPr id="4" name="Picture 3" descr="A graph with numbers and dots&#10;&#10;AI-generated content may be incorrect.">
            <a:extLst>
              <a:ext uri="{FF2B5EF4-FFF2-40B4-BE49-F238E27FC236}">
                <a16:creationId xmlns:a16="http://schemas.microsoft.com/office/drawing/2014/main" id="{DE7E3025-3C49-95E1-0AE8-043FEC25E23B}"/>
              </a:ext>
            </a:extLst>
          </p:cNvPr>
          <p:cNvPicPr>
            <a:picLocks noChangeAspect="1"/>
          </p:cNvPicPr>
          <p:nvPr/>
        </p:nvPicPr>
        <p:blipFill>
          <a:blip r:embed="rId3"/>
          <a:stretch>
            <a:fillRect/>
          </a:stretch>
        </p:blipFill>
        <p:spPr>
          <a:xfrm>
            <a:off x="1975025" y="1900296"/>
            <a:ext cx="7978545" cy="4600223"/>
          </a:xfrm>
          <a:prstGeom prst="rect">
            <a:avLst/>
          </a:prstGeom>
        </p:spPr>
      </p:pic>
    </p:spTree>
    <p:custDataLst>
      <p:tags r:id="rId1"/>
    </p:custDataLst>
    <p:extLst>
      <p:ext uri="{BB962C8B-B14F-4D97-AF65-F5344CB8AC3E}">
        <p14:creationId xmlns:p14="http://schemas.microsoft.com/office/powerpoint/2010/main" val="6344272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C812E-40AB-C51F-6227-81C7DF501B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752733-73E0-AC98-BFFC-3483D4F561A7}"/>
              </a:ext>
            </a:extLst>
          </p:cNvPr>
          <p:cNvSpPr>
            <a:spLocks noGrp="1"/>
          </p:cNvSpPr>
          <p:nvPr>
            <p:ph type="title"/>
          </p:nvPr>
        </p:nvSpPr>
        <p:spPr>
          <a:xfrm>
            <a:off x="189089" y="365125"/>
            <a:ext cx="11691525" cy="648229"/>
          </a:xfrm>
        </p:spPr>
        <p:txBody>
          <a:bodyPr anchor="ctr">
            <a:normAutofit fontScale="90000"/>
          </a:bodyPr>
          <a:lstStyle/>
          <a:p>
            <a:r>
              <a:rPr lang="en-US" dirty="0">
                <a:latin typeface="IBM Plex Sans SemiBold"/>
              </a:rPr>
              <a:t>RESULTS</a:t>
            </a:r>
            <a:br>
              <a:rPr lang="en-US" dirty="0">
                <a:latin typeface="IBM Plex Sans SemiBold"/>
              </a:rPr>
            </a:br>
            <a:r>
              <a:rPr lang="en-US" b="0" dirty="0">
                <a:latin typeface="IBM Plex Sans SemiBold"/>
              </a:rPr>
              <a:t>Matplotlib and Seaborn (EDA with Visualization</a:t>
            </a:r>
            <a:r>
              <a:rPr lang="en-US" dirty="0">
                <a:latin typeface="IBM Plex Sans SemiBold"/>
              </a:rPr>
              <a:t>)</a:t>
            </a:r>
            <a:endParaRPr lang="en-US" dirty="0"/>
          </a:p>
        </p:txBody>
      </p:sp>
      <p:sp>
        <p:nvSpPr>
          <p:cNvPr id="3" name="TextBox 2">
            <a:extLst>
              <a:ext uri="{FF2B5EF4-FFF2-40B4-BE49-F238E27FC236}">
                <a16:creationId xmlns:a16="http://schemas.microsoft.com/office/drawing/2014/main" id="{A3C4AA8C-3288-1D29-5C8E-C0861694124E}"/>
              </a:ext>
            </a:extLst>
          </p:cNvPr>
          <p:cNvSpPr txBox="1"/>
          <p:nvPr/>
        </p:nvSpPr>
        <p:spPr>
          <a:xfrm>
            <a:off x="190030" y="1535289"/>
            <a:ext cx="993045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The launch success yearly trend</a:t>
            </a:r>
            <a:endParaRPr lang="en-US" dirty="0"/>
          </a:p>
        </p:txBody>
      </p:sp>
      <p:pic>
        <p:nvPicPr>
          <p:cNvPr id="5" name="Picture 4" descr="A line graph with numbers and text&#10;&#10;AI-generated content may be incorrect.">
            <a:extLst>
              <a:ext uri="{FF2B5EF4-FFF2-40B4-BE49-F238E27FC236}">
                <a16:creationId xmlns:a16="http://schemas.microsoft.com/office/drawing/2014/main" id="{A2BC4574-66C6-37A8-C38E-14595ED1ECC4}"/>
              </a:ext>
            </a:extLst>
          </p:cNvPr>
          <p:cNvPicPr>
            <a:picLocks noChangeAspect="1"/>
          </p:cNvPicPr>
          <p:nvPr/>
        </p:nvPicPr>
        <p:blipFill>
          <a:blip r:embed="rId3"/>
          <a:stretch>
            <a:fillRect/>
          </a:stretch>
        </p:blipFill>
        <p:spPr>
          <a:xfrm>
            <a:off x="2096045" y="2314222"/>
            <a:ext cx="7190873" cy="4252149"/>
          </a:xfrm>
          <a:prstGeom prst="rect">
            <a:avLst/>
          </a:prstGeom>
        </p:spPr>
      </p:pic>
    </p:spTree>
    <p:custDataLst>
      <p:tags r:id="rId1"/>
    </p:custDataLst>
    <p:extLst>
      <p:ext uri="{BB962C8B-B14F-4D97-AF65-F5344CB8AC3E}">
        <p14:creationId xmlns:p14="http://schemas.microsoft.com/office/powerpoint/2010/main" val="24663430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05A23-3911-98DD-BF52-41B024A2E1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EA859C-EB32-BFB3-ED65-2C82CD074F85}"/>
              </a:ext>
            </a:extLst>
          </p:cNvPr>
          <p:cNvSpPr>
            <a:spLocks noGrp="1"/>
          </p:cNvSpPr>
          <p:nvPr>
            <p:ph type="title"/>
          </p:nvPr>
        </p:nvSpPr>
        <p:spPr>
          <a:xfrm>
            <a:off x="189089" y="365125"/>
            <a:ext cx="11691525" cy="648229"/>
          </a:xfrm>
        </p:spPr>
        <p:txBody>
          <a:bodyPr anchor="ctr">
            <a:normAutofit/>
          </a:bodyPr>
          <a:lstStyle/>
          <a:p>
            <a:r>
              <a:rPr lang="en-US" dirty="0">
                <a:latin typeface="IBM Plex Sans SemiBold"/>
              </a:rPr>
              <a:t>RESULTS (</a:t>
            </a:r>
            <a:r>
              <a:rPr lang="en-US" b="0" dirty="0">
                <a:latin typeface="IBM Plex Sans SemiBold"/>
              </a:rPr>
              <a:t>Folium)</a:t>
            </a:r>
            <a:endParaRPr lang="en-US" dirty="0"/>
          </a:p>
        </p:txBody>
      </p:sp>
      <p:sp>
        <p:nvSpPr>
          <p:cNvPr id="3" name="TextBox 2">
            <a:extLst>
              <a:ext uri="{FF2B5EF4-FFF2-40B4-BE49-F238E27FC236}">
                <a16:creationId xmlns:a16="http://schemas.microsoft.com/office/drawing/2014/main" id="{0B1CC3B0-9D61-5455-A617-B4136150E001}"/>
              </a:ext>
            </a:extLst>
          </p:cNvPr>
          <p:cNvSpPr txBox="1"/>
          <p:nvPr/>
        </p:nvSpPr>
        <p:spPr>
          <a:xfrm>
            <a:off x="190030" y="1535289"/>
            <a:ext cx="993045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 All launch sites on map</a:t>
            </a:r>
            <a:endParaRPr lang="en-US" dirty="0"/>
          </a:p>
        </p:txBody>
      </p:sp>
      <p:pic>
        <p:nvPicPr>
          <p:cNvPr id="4" name="Picture 3" descr="A map of the united states&#10;&#10;AI-generated content may be incorrect.">
            <a:extLst>
              <a:ext uri="{FF2B5EF4-FFF2-40B4-BE49-F238E27FC236}">
                <a16:creationId xmlns:a16="http://schemas.microsoft.com/office/drawing/2014/main" id="{A577E4EB-4C2F-65A1-D58B-9A76928C1835}"/>
              </a:ext>
            </a:extLst>
          </p:cNvPr>
          <p:cNvPicPr>
            <a:picLocks noChangeAspect="1"/>
          </p:cNvPicPr>
          <p:nvPr/>
        </p:nvPicPr>
        <p:blipFill>
          <a:blip r:embed="rId3"/>
          <a:stretch>
            <a:fillRect/>
          </a:stretch>
        </p:blipFill>
        <p:spPr>
          <a:xfrm>
            <a:off x="2210741" y="2449569"/>
            <a:ext cx="6895630" cy="3482864"/>
          </a:xfrm>
          <a:prstGeom prst="rect">
            <a:avLst/>
          </a:prstGeom>
        </p:spPr>
      </p:pic>
    </p:spTree>
    <p:custDataLst>
      <p:tags r:id="rId1"/>
    </p:custDataLst>
    <p:extLst>
      <p:ext uri="{BB962C8B-B14F-4D97-AF65-F5344CB8AC3E}">
        <p14:creationId xmlns:p14="http://schemas.microsoft.com/office/powerpoint/2010/main" val="3623053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DAC04-68E8-5D4C-BCCB-6C5A29AB06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761E37-7FD4-0AA3-B5E0-3B2AB2F14BBC}"/>
              </a:ext>
            </a:extLst>
          </p:cNvPr>
          <p:cNvSpPr>
            <a:spLocks noGrp="1"/>
          </p:cNvSpPr>
          <p:nvPr>
            <p:ph type="title"/>
          </p:nvPr>
        </p:nvSpPr>
        <p:spPr>
          <a:xfrm>
            <a:off x="189089" y="365125"/>
            <a:ext cx="11691525" cy="648229"/>
          </a:xfrm>
        </p:spPr>
        <p:txBody>
          <a:bodyPr anchor="ctr">
            <a:normAutofit/>
          </a:bodyPr>
          <a:lstStyle/>
          <a:p>
            <a:r>
              <a:rPr lang="en-US" dirty="0">
                <a:latin typeface="IBM Plex Sans SemiBold"/>
              </a:rPr>
              <a:t>RESULTS (</a:t>
            </a:r>
            <a:r>
              <a:rPr lang="en-US" b="0" dirty="0">
                <a:latin typeface="IBM Plex Sans SemiBold"/>
              </a:rPr>
              <a:t>Folium)</a:t>
            </a:r>
            <a:endParaRPr lang="en-US" dirty="0"/>
          </a:p>
        </p:txBody>
      </p:sp>
      <p:sp>
        <p:nvSpPr>
          <p:cNvPr id="3" name="TextBox 2">
            <a:extLst>
              <a:ext uri="{FF2B5EF4-FFF2-40B4-BE49-F238E27FC236}">
                <a16:creationId xmlns:a16="http://schemas.microsoft.com/office/drawing/2014/main" id="{8E0CB4EB-D7E4-AE78-E93B-A76402491C91}"/>
              </a:ext>
            </a:extLst>
          </p:cNvPr>
          <p:cNvSpPr txBox="1"/>
          <p:nvPr/>
        </p:nvSpPr>
        <p:spPr>
          <a:xfrm>
            <a:off x="190030" y="1535289"/>
            <a:ext cx="1198127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The succeeded launches and failed launches for each site on map</a:t>
            </a:r>
          </a:p>
          <a:p>
            <a:r>
              <a:rPr lang="en-US" dirty="0">
                <a:ea typeface="+mn-lt"/>
                <a:cs typeface="+mn-lt"/>
              </a:rPr>
              <a:t> • If we zoom in on one of the launch site, we can see green and red tags. Each green tag represents a successful launch while each red tag represents a failed launch</a:t>
            </a:r>
            <a:endParaRPr lang="en-US" dirty="0"/>
          </a:p>
        </p:txBody>
      </p:sp>
      <p:pic>
        <p:nvPicPr>
          <p:cNvPr id="5" name="Picture 4" descr="A map of a city&#10;&#10;AI-generated content may be incorrect.">
            <a:extLst>
              <a:ext uri="{FF2B5EF4-FFF2-40B4-BE49-F238E27FC236}">
                <a16:creationId xmlns:a16="http://schemas.microsoft.com/office/drawing/2014/main" id="{B04FB4D7-4310-77C5-C2F8-2A673C5B61E1}"/>
              </a:ext>
            </a:extLst>
          </p:cNvPr>
          <p:cNvPicPr>
            <a:picLocks noChangeAspect="1"/>
          </p:cNvPicPr>
          <p:nvPr/>
        </p:nvPicPr>
        <p:blipFill>
          <a:blip r:embed="rId3"/>
          <a:stretch>
            <a:fillRect/>
          </a:stretch>
        </p:blipFill>
        <p:spPr>
          <a:xfrm>
            <a:off x="1044222" y="2455920"/>
            <a:ext cx="8899408" cy="3714752"/>
          </a:xfrm>
          <a:prstGeom prst="rect">
            <a:avLst/>
          </a:prstGeom>
        </p:spPr>
      </p:pic>
    </p:spTree>
    <p:custDataLst>
      <p:tags r:id="rId1"/>
    </p:custDataLst>
    <p:extLst>
      <p:ext uri="{BB962C8B-B14F-4D97-AF65-F5344CB8AC3E}">
        <p14:creationId xmlns:p14="http://schemas.microsoft.com/office/powerpoint/2010/main" val="7550470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917CC-4352-88BC-0414-020105D8B0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81D45-F5D9-BFAA-5D10-21A468B32708}"/>
              </a:ext>
            </a:extLst>
          </p:cNvPr>
          <p:cNvSpPr>
            <a:spLocks noGrp="1"/>
          </p:cNvSpPr>
          <p:nvPr>
            <p:ph type="title"/>
          </p:nvPr>
        </p:nvSpPr>
        <p:spPr>
          <a:xfrm>
            <a:off x="189089" y="365125"/>
            <a:ext cx="11691525" cy="648229"/>
          </a:xfrm>
        </p:spPr>
        <p:txBody>
          <a:bodyPr anchor="ctr">
            <a:normAutofit/>
          </a:bodyPr>
          <a:lstStyle/>
          <a:p>
            <a:r>
              <a:rPr lang="en-US" dirty="0">
                <a:latin typeface="IBM Plex Sans SemiBold"/>
              </a:rPr>
              <a:t>RESULTS (</a:t>
            </a:r>
            <a:r>
              <a:rPr lang="en-US" b="0" dirty="0">
                <a:latin typeface="IBM Plex Sans SemiBold"/>
              </a:rPr>
              <a:t>Folium)</a:t>
            </a:r>
            <a:endParaRPr lang="en-US" dirty="0"/>
          </a:p>
        </p:txBody>
      </p:sp>
      <p:sp>
        <p:nvSpPr>
          <p:cNvPr id="3" name="TextBox 2">
            <a:extLst>
              <a:ext uri="{FF2B5EF4-FFF2-40B4-BE49-F238E27FC236}">
                <a16:creationId xmlns:a16="http://schemas.microsoft.com/office/drawing/2014/main" id="{3947C5B4-AE85-BA7D-FD8E-3DC816245A5F}"/>
              </a:ext>
            </a:extLst>
          </p:cNvPr>
          <p:cNvSpPr txBox="1"/>
          <p:nvPr/>
        </p:nvSpPr>
        <p:spPr>
          <a:xfrm>
            <a:off x="190030" y="1535289"/>
            <a:ext cx="1198127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The distances between a launch site to its proximities such as the nearest city,</a:t>
            </a:r>
            <a:endParaRPr lang="en-US" dirty="0"/>
          </a:p>
          <a:p>
            <a:r>
              <a:rPr lang="en-US" dirty="0">
                <a:ea typeface="+mn-lt"/>
                <a:cs typeface="+mn-lt"/>
              </a:rPr>
              <a:t>railway, or highway</a:t>
            </a:r>
            <a:endParaRPr lang="en-US" dirty="0"/>
          </a:p>
          <a:p>
            <a:r>
              <a:rPr lang="en-US" dirty="0">
                <a:ea typeface="+mn-lt"/>
                <a:cs typeface="+mn-lt"/>
              </a:rPr>
              <a:t>• The picture below shows the distance between the VAFB SLC-4E launch site and the nearest</a:t>
            </a:r>
            <a:endParaRPr lang="en-US" dirty="0"/>
          </a:p>
          <a:p>
            <a:r>
              <a:rPr lang="en-US" dirty="0">
                <a:ea typeface="+mn-lt"/>
                <a:cs typeface="+mn-lt"/>
              </a:rPr>
              <a:t>coastline</a:t>
            </a:r>
            <a:endParaRPr lang="en-US" dirty="0"/>
          </a:p>
        </p:txBody>
      </p:sp>
      <p:pic>
        <p:nvPicPr>
          <p:cNvPr id="4" name="Picture 3" descr="A map of a space launch site&#10;&#10;AI-generated content may be incorrect.">
            <a:extLst>
              <a:ext uri="{FF2B5EF4-FFF2-40B4-BE49-F238E27FC236}">
                <a16:creationId xmlns:a16="http://schemas.microsoft.com/office/drawing/2014/main" id="{68454638-BBAE-2205-F265-5A471D75A855}"/>
              </a:ext>
            </a:extLst>
          </p:cNvPr>
          <p:cNvPicPr>
            <a:picLocks noChangeAspect="1"/>
          </p:cNvPicPr>
          <p:nvPr/>
        </p:nvPicPr>
        <p:blipFill>
          <a:blip r:embed="rId3"/>
          <a:stretch>
            <a:fillRect/>
          </a:stretch>
        </p:blipFill>
        <p:spPr>
          <a:xfrm>
            <a:off x="2521185" y="2742740"/>
            <a:ext cx="7159038" cy="3188149"/>
          </a:xfrm>
          <a:prstGeom prst="rect">
            <a:avLst/>
          </a:prstGeom>
        </p:spPr>
      </p:pic>
    </p:spTree>
    <p:custDataLst>
      <p:tags r:id="rId1"/>
    </p:custDataLst>
    <p:extLst>
      <p:ext uri="{BB962C8B-B14F-4D97-AF65-F5344CB8AC3E}">
        <p14:creationId xmlns:p14="http://schemas.microsoft.com/office/powerpoint/2010/main" val="19106762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4E509-BCC5-D2FC-06D3-9B7CFC13FB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44C97F-89F3-C081-D145-A6BF9ECB7F78}"/>
              </a:ext>
            </a:extLst>
          </p:cNvPr>
          <p:cNvSpPr>
            <a:spLocks noGrp="1"/>
          </p:cNvSpPr>
          <p:nvPr>
            <p:ph type="title"/>
          </p:nvPr>
        </p:nvSpPr>
        <p:spPr>
          <a:xfrm>
            <a:off x="189089" y="365125"/>
            <a:ext cx="11691525" cy="648229"/>
          </a:xfrm>
        </p:spPr>
        <p:txBody>
          <a:bodyPr anchor="ctr">
            <a:normAutofit/>
          </a:bodyPr>
          <a:lstStyle/>
          <a:p>
            <a:r>
              <a:rPr lang="en-US" dirty="0">
                <a:latin typeface="IBM Plex Sans SemiBold"/>
              </a:rPr>
              <a:t>RESULTS (</a:t>
            </a:r>
            <a:r>
              <a:rPr lang="en-US" b="0" dirty="0">
                <a:latin typeface="IBM Plex Sans SemiBold"/>
              </a:rPr>
              <a:t>Dash)</a:t>
            </a:r>
            <a:endParaRPr lang="en-US" dirty="0"/>
          </a:p>
        </p:txBody>
      </p:sp>
      <p:sp>
        <p:nvSpPr>
          <p:cNvPr id="3" name="TextBox 2">
            <a:extLst>
              <a:ext uri="{FF2B5EF4-FFF2-40B4-BE49-F238E27FC236}">
                <a16:creationId xmlns:a16="http://schemas.microsoft.com/office/drawing/2014/main" id="{9C7182D7-956C-009C-6BC5-504F388862FB}"/>
              </a:ext>
            </a:extLst>
          </p:cNvPr>
          <p:cNvSpPr txBox="1"/>
          <p:nvPr/>
        </p:nvSpPr>
        <p:spPr>
          <a:xfrm>
            <a:off x="190030" y="1535289"/>
            <a:ext cx="1198127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The picture below shows a pie chart when launch site CCAFS LC-40 is chosen.</a:t>
            </a:r>
            <a:endParaRPr lang="en-US" dirty="0"/>
          </a:p>
          <a:p>
            <a:r>
              <a:rPr lang="en-US" dirty="0">
                <a:ea typeface="+mn-lt"/>
                <a:cs typeface="+mn-lt"/>
              </a:rPr>
              <a:t>• 0 represents failed launches while 1 represents successful launches. We can see that 73.1% of launches done at CCAFS LC-40 are failed launches.</a:t>
            </a:r>
            <a:endParaRPr lang="en-US" dirty="0"/>
          </a:p>
        </p:txBody>
      </p:sp>
      <p:pic>
        <p:nvPicPr>
          <p:cNvPr id="5" name="Picture 4" descr="A pie chart with a red and blue circle&#10;&#10;AI-generated content may be incorrect.">
            <a:extLst>
              <a:ext uri="{FF2B5EF4-FFF2-40B4-BE49-F238E27FC236}">
                <a16:creationId xmlns:a16="http://schemas.microsoft.com/office/drawing/2014/main" id="{3AC2CD85-C22C-0BE4-BFE3-34D011D87277}"/>
              </a:ext>
            </a:extLst>
          </p:cNvPr>
          <p:cNvPicPr>
            <a:picLocks noChangeAspect="1"/>
          </p:cNvPicPr>
          <p:nvPr/>
        </p:nvPicPr>
        <p:blipFill>
          <a:blip r:embed="rId3"/>
          <a:stretch>
            <a:fillRect/>
          </a:stretch>
        </p:blipFill>
        <p:spPr>
          <a:xfrm>
            <a:off x="1768592" y="3068696"/>
            <a:ext cx="7224890" cy="2987793"/>
          </a:xfrm>
          <a:prstGeom prst="rect">
            <a:avLst/>
          </a:prstGeom>
        </p:spPr>
      </p:pic>
    </p:spTree>
    <p:custDataLst>
      <p:tags r:id="rId1"/>
    </p:custDataLst>
    <p:extLst>
      <p:ext uri="{BB962C8B-B14F-4D97-AF65-F5344CB8AC3E}">
        <p14:creationId xmlns:p14="http://schemas.microsoft.com/office/powerpoint/2010/main" val="2550866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545AE-F3FA-3E9C-E1D3-390F91109F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9DD487-6929-B931-7922-8EA19DB35044}"/>
              </a:ext>
            </a:extLst>
          </p:cNvPr>
          <p:cNvSpPr>
            <a:spLocks noGrp="1"/>
          </p:cNvSpPr>
          <p:nvPr>
            <p:ph type="title"/>
          </p:nvPr>
        </p:nvSpPr>
        <p:spPr>
          <a:xfrm>
            <a:off x="189089" y="365125"/>
            <a:ext cx="11691525" cy="648229"/>
          </a:xfrm>
        </p:spPr>
        <p:txBody>
          <a:bodyPr anchor="ctr">
            <a:normAutofit/>
          </a:bodyPr>
          <a:lstStyle/>
          <a:p>
            <a:r>
              <a:rPr lang="en-US" dirty="0">
                <a:latin typeface="IBM Plex Sans SemiBold"/>
              </a:rPr>
              <a:t>RESULTS (</a:t>
            </a:r>
            <a:r>
              <a:rPr lang="en-US" b="0" dirty="0">
                <a:latin typeface="IBM Plex Sans SemiBold"/>
              </a:rPr>
              <a:t>Dash)</a:t>
            </a:r>
            <a:endParaRPr lang="en-US" dirty="0"/>
          </a:p>
        </p:txBody>
      </p:sp>
      <p:sp>
        <p:nvSpPr>
          <p:cNvPr id="3" name="TextBox 2">
            <a:extLst>
              <a:ext uri="{FF2B5EF4-FFF2-40B4-BE49-F238E27FC236}">
                <a16:creationId xmlns:a16="http://schemas.microsoft.com/office/drawing/2014/main" id="{294B26C7-4046-D020-42A2-795344BD46FC}"/>
              </a:ext>
            </a:extLst>
          </p:cNvPr>
          <p:cNvSpPr txBox="1"/>
          <p:nvPr/>
        </p:nvSpPr>
        <p:spPr>
          <a:xfrm>
            <a:off x="190030" y="1535289"/>
            <a:ext cx="1198127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The picture below shows a scatterplot when the payload mass range is set to be</a:t>
            </a:r>
            <a:endParaRPr lang="en-US" dirty="0"/>
          </a:p>
          <a:p>
            <a:r>
              <a:rPr lang="en-US" dirty="0">
                <a:ea typeface="+mn-lt"/>
                <a:cs typeface="+mn-lt"/>
              </a:rPr>
              <a:t>from 2000kg to 8000kg.</a:t>
            </a:r>
          </a:p>
          <a:p>
            <a:r>
              <a:rPr lang="en-US" dirty="0">
                <a:ea typeface="+mn-lt"/>
                <a:cs typeface="+mn-lt"/>
              </a:rPr>
              <a:t>• Class 0 represents failed launches while class 1 represents successful launches.</a:t>
            </a:r>
          </a:p>
        </p:txBody>
      </p:sp>
      <p:pic>
        <p:nvPicPr>
          <p:cNvPr id="4" name="Picture 3" descr="A graph with red and blue dots&#10;&#10;AI-generated content may be incorrect.">
            <a:extLst>
              <a:ext uri="{FF2B5EF4-FFF2-40B4-BE49-F238E27FC236}">
                <a16:creationId xmlns:a16="http://schemas.microsoft.com/office/drawing/2014/main" id="{4848A6C4-8F53-82A6-D76F-112696048E2B}"/>
              </a:ext>
            </a:extLst>
          </p:cNvPr>
          <p:cNvPicPr>
            <a:picLocks noChangeAspect="1"/>
          </p:cNvPicPr>
          <p:nvPr/>
        </p:nvPicPr>
        <p:blipFill>
          <a:blip r:embed="rId3"/>
          <a:stretch>
            <a:fillRect/>
          </a:stretch>
        </p:blipFill>
        <p:spPr>
          <a:xfrm>
            <a:off x="1533407" y="2819625"/>
            <a:ext cx="8353779" cy="3034380"/>
          </a:xfrm>
          <a:prstGeom prst="rect">
            <a:avLst/>
          </a:prstGeom>
        </p:spPr>
      </p:pic>
    </p:spTree>
    <p:custDataLst>
      <p:tags r:id="rId1"/>
    </p:custDataLst>
    <p:extLst>
      <p:ext uri="{BB962C8B-B14F-4D97-AF65-F5344CB8AC3E}">
        <p14:creationId xmlns:p14="http://schemas.microsoft.com/office/powerpoint/2010/main" val="39592778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826D9-8E99-98EE-60C8-9C7866B53A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4C36C-7CA4-5EBE-926B-19F285EE90B9}"/>
              </a:ext>
            </a:extLst>
          </p:cNvPr>
          <p:cNvSpPr>
            <a:spLocks noGrp="1"/>
          </p:cNvSpPr>
          <p:nvPr>
            <p:ph type="title"/>
          </p:nvPr>
        </p:nvSpPr>
        <p:spPr>
          <a:xfrm>
            <a:off x="189089" y="365125"/>
            <a:ext cx="11691525" cy="648229"/>
          </a:xfrm>
        </p:spPr>
        <p:txBody>
          <a:bodyPr anchor="ctr">
            <a:normAutofit/>
          </a:bodyPr>
          <a:lstStyle/>
          <a:p>
            <a:r>
              <a:rPr lang="en-US" dirty="0">
                <a:latin typeface="IBM Plex Sans SemiBold"/>
              </a:rPr>
              <a:t>RESULTS (</a:t>
            </a:r>
            <a:r>
              <a:rPr lang="en-US" b="0" dirty="0">
                <a:latin typeface="IBM Plex Sans SemiBold"/>
              </a:rPr>
              <a:t>Predictive Analysis)</a:t>
            </a:r>
            <a:endParaRPr lang="en-US" dirty="0"/>
          </a:p>
        </p:txBody>
      </p:sp>
      <p:sp>
        <p:nvSpPr>
          <p:cNvPr id="3" name="TextBox 2">
            <a:extLst>
              <a:ext uri="{FF2B5EF4-FFF2-40B4-BE49-F238E27FC236}">
                <a16:creationId xmlns:a16="http://schemas.microsoft.com/office/drawing/2014/main" id="{462A7BA7-4FF5-1683-2285-82216CCA743F}"/>
              </a:ext>
            </a:extLst>
          </p:cNvPr>
          <p:cNvSpPr txBox="1"/>
          <p:nvPr/>
        </p:nvSpPr>
        <p:spPr>
          <a:xfrm>
            <a:off x="190030" y="1535289"/>
            <a:ext cx="1198127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Logistic regression</a:t>
            </a:r>
            <a:endParaRPr lang="en-US" dirty="0"/>
          </a:p>
          <a:p>
            <a:r>
              <a:rPr lang="en-US" dirty="0">
                <a:ea typeface="+mn-lt"/>
                <a:cs typeface="+mn-lt"/>
              </a:rPr>
              <a:t>• </a:t>
            </a:r>
            <a:r>
              <a:rPr lang="en-US" dirty="0" err="1">
                <a:ea typeface="+mn-lt"/>
                <a:cs typeface="+mn-lt"/>
              </a:rPr>
              <a:t>GridSearchCV</a:t>
            </a:r>
            <a:r>
              <a:rPr lang="en-US" dirty="0">
                <a:ea typeface="+mn-lt"/>
                <a:cs typeface="+mn-lt"/>
              </a:rPr>
              <a:t> best score: 0.8464285714285713</a:t>
            </a:r>
            <a:endParaRPr lang="en-US" dirty="0"/>
          </a:p>
          <a:p>
            <a:r>
              <a:rPr lang="en-US" dirty="0">
                <a:ea typeface="+mn-lt"/>
                <a:cs typeface="+mn-lt"/>
              </a:rPr>
              <a:t>• Accuracy score on test set: 0.8333333333333334</a:t>
            </a:r>
            <a:endParaRPr lang="en-US" dirty="0"/>
          </a:p>
          <a:p>
            <a:r>
              <a:rPr lang="en-US" dirty="0">
                <a:ea typeface="+mn-lt"/>
                <a:cs typeface="+mn-lt"/>
              </a:rPr>
              <a:t>• Confusion matrix:</a:t>
            </a:r>
            <a:endParaRPr lang="en-US" dirty="0"/>
          </a:p>
        </p:txBody>
      </p:sp>
      <p:pic>
        <p:nvPicPr>
          <p:cNvPr id="5" name="Picture 4" descr="A diagram of different colored squares&#10;&#10;AI-generated content may be incorrect.">
            <a:extLst>
              <a:ext uri="{FF2B5EF4-FFF2-40B4-BE49-F238E27FC236}">
                <a16:creationId xmlns:a16="http://schemas.microsoft.com/office/drawing/2014/main" id="{18EC8A73-A602-71B4-7ABC-8D5CEB079901}"/>
              </a:ext>
            </a:extLst>
          </p:cNvPr>
          <p:cNvPicPr>
            <a:picLocks noChangeAspect="1"/>
          </p:cNvPicPr>
          <p:nvPr/>
        </p:nvPicPr>
        <p:blipFill>
          <a:blip r:embed="rId3"/>
          <a:stretch>
            <a:fillRect/>
          </a:stretch>
        </p:blipFill>
        <p:spPr>
          <a:xfrm>
            <a:off x="3832577" y="2840684"/>
            <a:ext cx="4395141" cy="3406187"/>
          </a:xfrm>
          <a:prstGeom prst="rect">
            <a:avLst/>
          </a:prstGeom>
        </p:spPr>
      </p:pic>
    </p:spTree>
    <p:custDataLst>
      <p:tags r:id="rId1"/>
    </p:custDataLst>
    <p:extLst>
      <p:ext uri="{BB962C8B-B14F-4D97-AF65-F5344CB8AC3E}">
        <p14:creationId xmlns:p14="http://schemas.microsoft.com/office/powerpoint/2010/main" val="21428518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A2A8F-1067-4E78-4895-A4921CEC33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F1D4EF-C680-4D6A-2A25-52ACD478E943}"/>
              </a:ext>
            </a:extLst>
          </p:cNvPr>
          <p:cNvSpPr>
            <a:spLocks noGrp="1"/>
          </p:cNvSpPr>
          <p:nvPr>
            <p:ph type="title"/>
          </p:nvPr>
        </p:nvSpPr>
        <p:spPr>
          <a:xfrm>
            <a:off x="189089" y="365125"/>
            <a:ext cx="11691525" cy="648229"/>
          </a:xfrm>
        </p:spPr>
        <p:txBody>
          <a:bodyPr anchor="ctr">
            <a:normAutofit/>
          </a:bodyPr>
          <a:lstStyle/>
          <a:p>
            <a:r>
              <a:rPr lang="en-US" dirty="0">
                <a:latin typeface="IBM Plex Sans SemiBold"/>
              </a:rPr>
              <a:t>RESULTS (</a:t>
            </a:r>
            <a:r>
              <a:rPr lang="en-US" b="0" dirty="0">
                <a:latin typeface="IBM Plex Sans SemiBold"/>
              </a:rPr>
              <a:t>Predictive Analysis)</a:t>
            </a:r>
            <a:endParaRPr lang="en-US" dirty="0"/>
          </a:p>
        </p:txBody>
      </p:sp>
      <p:sp>
        <p:nvSpPr>
          <p:cNvPr id="3" name="TextBox 2">
            <a:extLst>
              <a:ext uri="{FF2B5EF4-FFF2-40B4-BE49-F238E27FC236}">
                <a16:creationId xmlns:a16="http://schemas.microsoft.com/office/drawing/2014/main" id="{DC114974-FE09-AD04-DDA7-FC57179AC4C4}"/>
              </a:ext>
            </a:extLst>
          </p:cNvPr>
          <p:cNvSpPr txBox="1"/>
          <p:nvPr/>
        </p:nvSpPr>
        <p:spPr>
          <a:xfrm>
            <a:off x="190030" y="1535289"/>
            <a:ext cx="1198127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Support vector machine (SVM)</a:t>
            </a:r>
            <a:endParaRPr lang="en-US" dirty="0"/>
          </a:p>
          <a:p>
            <a:r>
              <a:rPr lang="en-US" dirty="0">
                <a:ea typeface="+mn-lt"/>
                <a:cs typeface="+mn-lt"/>
              </a:rPr>
              <a:t>• </a:t>
            </a:r>
            <a:r>
              <a:rPr lang="en-US" dirty="0" err="1">
                <a:ea typeface="+mn-lt"/>
                <a:cs typeface="+mn-lt"/>
              </a:rPr>
              <a:t>GridSearchCV</a:t>
            </a:r>
            <a:r>
              <a:rPr lang="en-US" dirty="0">
                <a:ea typeface="+mn-lt"/>
                <a:cs typeface="+mn-lt"/>
              </a:rPr>
              <a:t> best score: 0.8482142857142856</a:t>
            </a:r>
            <a:endParaRPr lang="en-US" dirty="0"/>
          </a:p>
          <a:p>
            <a:r>
              <a:rPr lang="en-US" dirty="0">
                <a:ea typeface="+mn-lt"/>
                <a:cs typeface="+mn-lt"/>
              </a:rPr>
              <a:t>• Accuracy score on test set: 0.8333333333333334</a:t>
            </a:r>
            <a:endParaRPr lang="en-US">
              <a:ea typeface="+mn-lt"/>
              <a:cs typeface="+mn-lt"/>
            </a:endParaRPr>
          </a:p>
          <a:p>
            <a:r>
              <a:rPr lang="en-US" dirty="0">
                <a:ea typeface="+mn-lt"/>
                <a:cs typeface="+mn-lt"/>
              </a:rPr>
              <a:t>• Confusion matrix:</a:t>
            </a:r>
            <a:endParaRPr lang="en-US">
              <a:ea typeface="+mn-lt"/>
              <a:cs typeface="+mn-lt"/>
            </a:endParaRPr>
          </a:p>
        </p:txBody>
      </p:sp>
      <p:pic>
        <p:nvPicPr>
          <p:cNvPr id="4" name="Picture 3" descr="A diagram of different colored squares&#10;&#10;AI-generated content may be incorrect.">
            <a:extLst>
              <a:ext uri="{FF2B5EF4-FFF2-40B4-BE49-F238E27FC236}">
                <a16:creationId xmlns:a16="http://schemas.microsoft.com/office/drawing/2014/main" id="{E5336281-C405-8916-981C-DB6A5122DCA8}"/>
              </a:ext>
            </a:extLst>
          </p:cNvPr>
          <p:cNvPicPr>
            <a:picLocks noChangeAspect="1"/>
          </p:cNvPicPr>
          <p:nvPr/>
        </p:nvPicPr>
        <p:blipFill>
          <a:blip r:embed="rId3"/>
          <a:stretch>
            <a:fillRect/>
          </a:stretch>
        </p:blipFill>
        <p:spPr>
          <a:xfrm>
            <a:off x="3051763" y="2737203"/>
            <a:ext cx="3849512" cy="2992261"/>
          </a:xfrm>
          <a:prstGeom prst="rect">
            <a:avLst/>
          </a:prstGeom>
        </p:spPr>
      </p:pic>
    </p:spTree>
    <p:custDataLst>
      <p:tags r:id="rId1"/>
    </p:custDataLst>
    <p:extLst>
      <p:ext uri="{BB962C8B-B14F-4D97-AF65-F5344CB8AC3E}">
        <p14:creationId xmlns:p14="http://schemas.microsoft.com/office/powerpoint/2010/main" val="22375230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85608-E411-C882-82CD-29861B64AD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89AE24-FF58-4BED-40A2-E1C31A223D25}"/>
              </a:ext>
            </a:extLst>
          </p:cNvPr>
          <p:cNvSpPr>
            <a:spLocks noGrp="1"/>
          </p:cNvSpPr>
          <p:nvPr>
            <p:ph type="title"/>
          </p:nvPr>
        </p:nvSpPr>
        <p:spPr>
          <a:xfrm>
            <a:off x="189089" y="365125"/>
            <a:ext cx="11691525" cy="648229"/>
          </a:xfrm>
        </p:spPr>
        <p:txBody>
          <a:bodyPr anchor="ctr">
            <a:normAutofit/>
          </a:bodyPr>
          <a:lstStyle/>
          <a:p>
            <a:r>
              <a:rPr lang="en-US" dirty="0">
                <a:latin typeface="IBM Plex Sans SemiBold"/>
              </a:rPr>
              <a:t>RESULTS (</a:t>
            </a:r>
            <a:r>
              <a:rPr lang="en-US" b="0" dirty="0">
                <a:latin typeface="IBM Plex Sans SemiBold"/>
              </a:rPr>
              <a:t>Predictive Analysis)</a:t>
            </a:r>
            <a:endParaRPr lang="en-US" dirty="0"/>
          </a:p>
        </p:txBody>
      </p:sp>
      <p:sp>
        <p:nvSpPr>
          <p:cNvPr id="3" name="TextBox 2">
            <a:extLst>
              <a:ext uri="{FF2B5EF4-FFF2-40B4-BE49-F238E27FC236}">
                <a16:creationId xmlns:a16="http://schemas.microsoft.com/office/drawing/2014/main" id="{61B24BA1-5CD3-DAC3-4B9D-AE1D74739AF4}"/>
              </a:ext>
            </a:extLst>
          </p:cNvPr>
          <p:cNvSpPr txBox="1"/>
          <p:nvPr/>
        </p:nvSpPr>
        <p:spPr>
          <a:xfrm>
            <a:off x="190030" y="1535289"/>
            <a:ext cx="1198127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Decision tree</a:t>
            </a:r>
            <a:endParaRPr lang="en-US" dirty="0"/>
          </a:p>
          <a:p>
            <a:r>
              <a:rPr lang="en-US" dirty="0">
                <a:ea typeface="+mn-lt"/>
                <a:cs typeface="+mn-lt"/>
              </a:rPr>
              <a:t>• </a:t>
            </a:r>
            <a:r>
              <a:rPr lang="en-US" dirty="0" err="1">
                <a:ea typeface="+mn-lt"/>
                <a:cs typeface="+mn-lt"/>
              </a:rPr>
              <a:t>GridSearchCV</a:t>
            </a:r>
            <a:r>
              <a:rPr lang="en-US" dirty="0">
                <a:ea typeface="+mn-lt"/>
                <a:cs typeface="+mn-lt"/>
              </a:rPr>
              <a:t> best score: 0.8892857142857142</a:t>
            </a:r>
            <a:endParaRPr lang="en-US" dirty="0"/>
          </a:p>
          <a:p>
            <a:r>
              <a:rPr lang="en-US" dirty="0">
                <a:ea typeface="+mn-lt"/>
                <a:cs typeface="+mn-lt"/>
              </a:rPr>
              <a:t>• Accuracy score on test set: 0.8333333333333334</a:t>
            </a:r>
          </a:p>
          <a:p>
            <a:r>
              <a:rPr lang="en-US" dirty="0">
                <a:ea typeface="+mn-lt"/>
                <a:cs typeface="+mn-lt"/>
              </a:rPr>
              <a:t>• Confusion matrix:</a:t>
            </a:r>
          </a:p>
        </p:txBody>
      </p:sp>
      <p:pic>
        <p:nvPicPr>
          <p:cNvPr id="6" name="Picture 5" descr="A diagram of different colored squares&#10;&#10;AI-generated content may be incorrect.">
            <a:extLst>
              <a:ext uri="{FF2B5EF4-FFF2-40B4-BE49-F238E27FC236}">
                <a16:creationId xmlns:a16="http://schemas.microsoft.com/office/drawing/2014/main" id="{F1837E02-AC4F-81AA-C139-64075BEA048D}"/>
              </a:ext>
            </a:extLst>
          </p:cNvPr>
          <p:cNvPicPr>
            <a:picLocks noChangeAspect="1"/>
          </p:cNvPicPr>
          <p:nvPr/>
        </p:nvPicPr>
        <p:blipFill>
          <a:blip r:embed="rId3"/>
          <a:stretch>
            <a:fillRect/>
          </a:stretch>
        </p:blipFill>
        <p:spPr>
          <a:xfrm>
            <a:off x="2835393" y="2737203"/>
            <a:ext cx="4837289" cy="3754261"/>
          </a:xfrm>
          <a:prstGeom prst="rect">
            <a:avLst/>
          </a:prstGeom>
        </p:spPr>
      </p:pic>
    </p:spTree>
    <p:custDataLst>
      <p:tags r:id="rId1"/>
    </p:custDataLst>
    <p:extLst>
      <p:ext uri="{BB962C8B-B14F-4D97-AF65-F5344CB8AC3E}">
        <p14:creationId xmlns:p14="http://schemas.microsoft.com/office/powerpoint/2010/main" val="8849338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31918-D691-CEAA-B257-31F4DF45DC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8321AB-E098-84BD-206F-34C8E09638B1}"/>
              </a:ext>
            </a:extLst>
          </p:cNvPr>
          <p:cNvSpPr>
            <a:spLocks noGrp="1"/>
          </p:cNvSpPr>
          <p:nvPr>
            <p:ph type="title"/>
          </p:nvPr>
        </p:nvSpPr>
        <p:spPr>
          <a:xfrm>
            <a:off x="189089" y="365125"/>
            <a:ext cx="11691525" cy="648229"/>
          </a:xfrm>
        </p:spPr>
        <p:txBody>
          <a:bodyPr anchor="ctr">
            <a:normAutofit/>
          </a:bodyPr>
          <a:lstStyle/>
          <a:p>
            <a:r>
              <a:rPr lang="en-US" dirty="0">
                <a:latin typeface="IBM Plex Sans SemiBold"/>
              </a:rPr>
              <a:t>RESULTS (</a:t>
            </a:r>
            <a:r>
              <a:rPr lang="en-US" b="0" dirty="0">
                <a:latin typeface="IBM Plex Sans SemiBold"/>
              </a:rPr>
              <a:t>Predictive Analysis)</a:t>
            </a:r>
            <a:endParaRPr lang="en-US" dirty="0"/>
          </a:p>
        </p:txBody>
      </p:sp>
      <p:sp>
        <p:nvSpPr>
          <p:cNvPr id="3" name="TextBox 2">
            <a:extLst>
              <a:ext uri="{FF2B5EF4-FFF2-40B4-BE49-F238E27FC236}">
                <a16:creationId xmlns:a16="http://schemas.microsoft.com/office/drawing/2014/main" id="{1CD15FF4-E64C-460B-1D99-351F09522E1C}"/>
              </a:ext>
            </a:extLst>
          </p:cNvPr>
          <p:cNvSpPr txBox="1"/>
          <p:nvPr/>
        </p:nvSpPr>
        <p:spPr>
          <a:xfrm>
            <a:off x="190030" y="1535289"/>
            <a:ext cx="1198127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K nearest neighbors (KNN)</a:t>
            </a:r>
            <a:endParaRPr lang="en-US" dirty="0"/>
          </a:p>
          <a:p>
            <a:r>
              <a:rPr lang="en-US" dirty="0">
                <a:ea typeface="+mn-lt"/>
                <a:cs typeface="+mn-lt"/>
              </a:rPr>
              <a:t>• </a:t>
            </a:r>
            <a:r>
              <a:rPr lang="en-US" dirty="0" err="1">
                <a:ea typeface="+mn-lt"/>
                <a:cs typeface="+mn-lt"/>
              </a:rPr>
              <a:t>GridSearchCV</a:t>
            </a:r>
            <a:r>
              <a:rPr lang="en-US" dirty="0">
                <a:ea typeface="+mn-lt"/>
                <a:cs typeface="+mn-lt"/>
              </a:rPr>
              <a:t> best score: 0.8482142857142858</a:t>
            </a:r>
            <a:endParaRPr lang="en-US" dirty="0"/>
          </a:p>
          <a:p>
            <a:r>
              <a:rPr lang="en-US" dirty="0">
                <a:ea typeface="+mn-lt"/>
                <a:cs typeface="+mn-lt"/>
              </a:rPr>
              <a:t>• Accuracy score on test set: 0.8333333333333334</a:t>
            </a:r>
          </a:p>
          <a:p>
            <a:r>
              <a:rPr lang="en-US" dirty="0">
                <a:ea typeface="+mn-lt"/>
                <a:cs typeface="+mn-lt"/>
              </a:rPr>
              <a:t>• Confusion matrix:</a:t>
            </a:r>
          </a:p>
        </p:txBody>
      </p:sp>
      <p:pic>
        <p:nvPicPr>
          <p:cNvPr id="4" name="Picture 3" descr="A diagram of different colored squares&#10;&#10;AI-generated content may be incorrect.">
            <a:extLst>
              <a:ext uri="{FF2B5EF4-FFF2-40B4-BE49-F238E27FC236}">
                <a16:creationId xmlns:a16="http://schemas.microsoft.com/office/drawing/2014/main" id="{95CA9776-FFB7-4321-53A2-9C7736FD4069}"/>
              </a:ext>
            </a:extLst>
          </p:cNvPr>
          <p:cNvPicPr>
            <a:picLocks noChangeAspect="1"/>
          </p:cNvPicPr>
          <p:nvPr/>
        </p:nvPicPr>
        <p:blipFill>
          <a:blip r:embed="rId3"/>
          <a:stretch>
            <a:fillRect/>
          </a:stretch>
        </p:blipFill>
        <p:spPr>
          <a:xfrm>
            <a:off x="3051763" y="2878314"/>
            <a:ext cx="4677363" cy="3631965"/>
          </a:xfrm>
          <a:prstGeom prst="rect">
            <a:avLst/>
          </a:prstGeom>
        </p:spPr>
      </p:pic>
    </p:spTree>
    <p:custDataLst>
      <p:tags r:id="rId1"/>
    </p:custDataLst>
    <p:extLst>
      <p:ext uri="{BB962C8B-B14F-4D97-AF65-F5344CB8AC3E}">
        <p14:creationId xmlns:p14="http://schemas.microsoft.com/office/powerpoint/2010/main" val="22948639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78E-2DDA-CEFB-806E-2EDDEDB54E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B874C9-8F31-684F-F1A7-542014BABF8B}"/>
              </a:ext>
            </a:extLst>
          </p:cNvPr>
          <p:cNvSpPr>
            <a:spLocks noGrp="1"/>
          </p:cNvSpPr>
          <p:nvPr>
            <p:ph type="title"/>
          </p:nvPr>
        </p:nvSpPr>
        <p:spPr>
          <a:xfrm>
            <a:off x="189089" y="365125"/>
            <a:ext cx="11691525" cy="648229"/>
          </a:xfrm>
        </p:spPr>
        <p:txBody>
          <a:bodyPr anchor="ctr">
            <a:normAutofit/>
          </a:bodyPr>
          <a:lstStyle/>
          <a:p>
            <a:r>
              <a:rPr lang="en-US" dirty="0">
                <a:latin typeface="IBM Plex Sans SemiBold"/>
              </a:rPr>
              <a:t>RESULTS (</a:t>
            </a:r>
            <a:r>
              <a:rPr lang="en-US" b="0" dirty="0">
                <a:latin typeface="IBM Plex Sans SemiBold"/>
              </a:rPr>
              <a:t>Predictive Analysis)</a:t>
            </a:r>
            <a:endParaRPr lang="en-US" dirty="0"/>
          </a:p>
        </p:txBody>
      </p:sp>
      <p:sp>
        <p:nvSpPr>
          <p:cNvPr id="3" name="TextBox 2">
            <a:extLst>
              <a:ext uri="{FF2B5EF4-FFF2-40B4-BE49-F238E27FC236}">
                <a16:creationId xmlns:a16="http://schemas.microsoft.com/office/drawing/2014/main" id="{B246DCE4-8DB3-9F9E-68B9-6DEF7AA2EF44}"/>
              </a:ext>
            </a:extLst>
          </p:cNvPr>
          <p:cNvSpPr txBox="1"/>
          <p:nvPr/>
        </p:nvSpPr>
        <p:spPr>
          <a:xfrm>
            <a:off x="190030" y="1535289"/>
            <a:ext cx="11990679"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Putting the results of all 4 models side by side, we can see that they all share the</a:t>
            </a:r>
            <a:endParaRPr lang="en-US" dirty="0"/>
          </a:p>
          <a:p>
            <a:r>
              <a:rPr lang="en-US" dirty="0">
                <a:ea typeface="+mn-lt"/>
                <a:cs typeface="+mn-lt"/>
              </a:rPr>
              <a:t>same accuracy score and confusion matrix when tested on the test set.</a:t>
            </a:r>
            <a:endParaRPr lang="en-US" dirty="0"/>
          </a:p>
          <a:p>
            <a:r>
              <a:rPr lang="en-US" dirty="0">
                <a:ea typeface="+mn-lt"/>
                <a:cs typeface="+mn-lt"/>
              </a:rPr>
              <a:t>• Therefore, their </a:t>
            </a:r>
            <a:r>
              <a:rPr lang="en-US" dirty="0" err="1">
                <a:ea typeface="+mn-lt"/>
                <a:cs typeface="+mn-lt"/>
              </a:rPr>
              <a:t>GridSearchCV</a:t>
            </a:r>
            <a:r>
              <a:rPr lang="en-US" dirty="0">
                <a:ea typeface="+mn-lt"/>
                <a:cs typeface="+mn-lt"/>
              </a:rPr>
              <a:t> best scores are used to rank them instead. Based</a:t>
            </a:r>
            <a:endParaRPr lang="en-US" dirty="0"/>
          </a:p>
          <a:p>
            <a:r>
              <a:rPr lang="en-US" dirty="0">
                <a:ea typeface="+mn-lt"/>
                <a:cs typeface="+mn-lt"/>
              </a:rPr>
              <a:t>on the </a:t>
            </a:r>
            <a:r>
              <a:rPr lang="en-US" dirty="0" err="1">
                <a:ea typeface="+mn-lt"/>
                <a:cs typeface="+mn-lt"/>
              </a:rPr>
              <a:t>GridSearchCV</a:t>
            </a:r>
            <a:r>
              <a:rPr lang="en-US" dirty="0">
                <a:ea typeface="+mn-lt"/>
                <a:cs typeface="+mn-lt"/>
              </a:rPr>
              <a:t> best scores, the models are ranked in the following order</a:t>
            </a:r>
            <a:endParaRPr lang="en-US" dirty="0"/>
          </a:p>
          <a:p>
            <a:r>
              <a:rPr lang="en-US" dirty="0">
                <a:ea typeface="+mn-lt"/>
                <a:cs typeface="+mn-lt"/>
              </a:rPr>
              <a:t>with the first being the best and the last one being the worst:</a:t>
            </a:r>
            <a:endParaRPr lang="en-US" dirty="0"/>
          </a:p>
          <a:p>
            <a:r>
              <a:rPr lang="en-US" dirty="0">
                <a:ea typeface="+mn-lt"/>
                <a:cs typeface="+mn-lt"/>
              </a:rPr>
              <a:t>1. Decision tree (</a:t>
            </a:r>
            <a:r>
              <a:rPr lang="en-US" dirty="0" err="1">
                <a:ea typeface="+mn-lt"/>
                <a:cs typeface="+mn-lt"/>
              </a:rPr>
              <a:t>GridSearchCV</a:t>
            </a:r>
            <a:r>
              <a:rPr lang="en-US" dirty="0">
                <a:ea typeface="+mn-lt"/>
                <a:cs typeface="+mn-lt"/>
              </a:rPr>
              <a:t> best score: 0.8892857142857142)</a:t>
            </a:r>
            <a:endParaRPr lang="en-US" dirty="0"/>
          </a:p>
          <a:p>
            <a:r>
              <a:rPr lang="en-US" dirty="0">
                <a:ea typeface="+mn-lt"/>
                <a:cs typeface="+mn-lt"/>
              </a:rPr>
              <a:t>2. K nearest neighbors, KNN (</a:t>
            </a:r>
            <a:r>
              <a:rPr lang="en-US" dirty="0" err="1">
                <a:ea typeface="+mn-lt"/>
                <a:cs typeface="+mn-lt"/>
              </a:rPr>
              <a:t>GridSearchCV</a:t>
            </a:r>
            <a:r>
              <a:rPr lang="en-US" dirty="0">
                <a:ea typeface="+mn-lt"/>
                <a:cs typeface="+mn-lt"/>
              </a:rPr>
              <a:t> best score: 0.8482142857142858)</a:t>
            </a:r>
            <a:endParaRPr lang="en-US" dirty="0"/>
          </a:p>
          <a:p>
            <a:r>
              <a:rPr lang="en-US" dirty="0">
                <a:ea typeface="+mn-lt"/>
                <a:cs typeface="+mn-lt"/>
              </a:rPr>
              <a:t>3. Support vector machine, SVM (</a:t>
            </a:r>
            <a:r>
              <a:rPr lang="en-US" dirty="0" err="1">
                <a:ea typeface="+mn-lt"/>
                <a:cs typeface="+mn-lt"/>
              </a:rPr>
              <a:t>GridSearchCV</a:t>
            </a:r>
            <a:r>
              <a:rPr lang="en-US" dirty="0">
                <a:ea typeface="+mn-lt"/>
                <a:cs typeface="+mn-lt"/>
              </a:rPr>
              <a:t> best score: 0.8482142857142856)</a:t>
            </a:r>
            <a:endParaRPr lang="en-US" dirty="0"/>
          </a:p>
          <a:p>
            <a:r>
              <a:rPr lang="en-US" dirty="0">
                <a:ea typeface="+mn-lt"/>
                <a:cs typeface="+mn-lt"/>
              </a:rPr>
              <a:t>4. Logistic regression (</a:t>
            </a:r>
            <a:r>
              <a:rPr lang="en-US" dirty="0" err="1">
                <a:ea typeface="+mn-lt"/>
                <a:cs typeface="+mn-lt"/>
              </a:rPr>
              <a:t>GridSearchCV</a:t>
            </a:r>
            <a:r>
              <a:rPr lang="en-US" dirty="0">
                <a:ea typeface="+mn-lt"/>
                <a:cs typeface="+mn-lt"/>
              </a:rPr>
              <a:t> best score: 0.8464285714285713)</a:t>
            </a:r>
            <a:endParaRPr lang="en-US" dirty="0"/>
          </a:p>
        </p:txBody>
      </p:sp>
    </p:spTree>
    <p:custDataLst>
      <p:tags r:id="rId1"/>
    </p:custDataLst>
    <p:extLst>
      <p:ext uri="{BB962C8B-B14F-4D97-AF65-F5344CB8AC3E}">
        <p14:creationId xmlns:p14="http://schemas.microsoft.com/office/powerpoint/2010/main" val="17045217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8291F-E27C-74F8-33D3-FF131FC96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BB7D73-872E-CFE8-1C38-8422F383863C}"/>
              </a:ext>
            </a:extLst>
          </p:cNvPr>
          <p:cNvSpPr>
            <a:spLocks noGrp="1"/>
          </p:cNvSpPr>
          <p:nvPr>
            <p:ph type="title"/>
          </p:nvPr>
        </p:nvSpPr>
        <p:spPr>
          <a:xfrm>
            <a:off x="838200" y="365125"/>
            <a:ext cx="10515600" cy="1325563"/>
          </a:xfrm>
        </p:spPr>
        <p:txBody>
          <a:bodyPr anchor="ctr">
            <a:normAutofit/>
          </a:bodyPr>
          <a:lstStyle/>
          <a:p>
            <a:r>
              <a:rPr lang="en-US" dirty="0"/>
              <a:t>DASHBOARD</a:t>
            </a:r>
          </a:p>
        </p:txBody>
      </p:sp>
      <p:sp>
        <p:nvSpPr>
          <p:cNvPr id="3" name="Content Placeholder 2">
            <a:extLst>
              <a:ext uri="{FF2B5EF4-FFF2-40B4-BE49-F238E27FC236}">
                <a16:creationId xmlns:a16="http://schemas.microsoft.com/office/drawing/2014/main" id="{25C64183-B387-01E7-21BA-4DA6B1F51815}"/>
              </a:ext>
            </a:extLst>
          </p:cNvPr>
          <p:cNvSpPr txBox="1">
            <a:spLocks/>
          </p:cNvSpPr>
          <p:nvPr/>
        </p:nvSpPr>
        <p:spPr>
          <a:xfrm>
            <a:off x="4132675" y="1902690"/>
            <a:ext cx="7068725" cy="256923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200" dirty="0">
                <a:latin typeface="IBM Plex Sans"/>
              </a:rPr>
              <a:t>https://github.com/sunandasharma/FinalAssignment/blob/Master/spacex-dash-app%20(3).py</a:t>
            </a:r>
            <a:endParaRPr lang="en-US" dirty="0"/>
          </a:p>
        </p:txBody>
      </p:sp>
      <p:pic>
        <p:nvPicPr>
          <p:cNvPr id="4" name="Picture 3">
            <a:extLst>
              <a:ext uri="{FF2B5EF4-FFF2-40B4-BE49-F238E27FC236}">
                <a16:creationId xmlns:a16="http://schemas.microsoft.com/office/drawing/2014/main" id="{A79822F7-4A79-5E92-9C6D-8A9769182E2E}"/>
              </a:ext>
            </a:extLst>
          </p:cNvPr>
          <p:cNvPicPr>
            <a:picLocks noChangeAspect="1"/>
          </p:cNvPicPr>
          <p:nvPr/>
        </p:nvPicPr>
        <p:blipFill>
          <a:blip r:embed="rId3"/>
          <a:stretch>
            <a:fillRect/>
          </a:stretch>
        </p:blipFill>
        <p:spPr>
          <a:xfrm>
            <a:off x="1077475" y="1901819"/>
            <a:ext cx="3054361" cy="3054361"/>
          </a:xfrm>
          <a:prstGeom prst="rect">
            <a:avLst/>
          </a:prstGeom>
        </p:spPr>
      </p:pic>
    </p:spTree>
    <p:custDataLst>
      <p:tags r:id="rId1"/>
    </p:custDataLst>
    <p:extLst>
      <p:ext uri="{BB962C8B-B14F-4D97-AF65-F5344CB8AC3E}">
        <p14:creationId xmlns:p14="http://schemas.microsoft.com/office/powerpoint/2010/main" val="1752198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2F0CA-55D1-0835-20D4-03D017A1D5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393914-A678-A34E-C52A-16D0ADAA25AF}"/>
              </a:ext>
            </a:extLst>
          </p:cNvPr>
          <p:cNvSpPr>
            <a:spLocks noGrp="1"/>
          </p:cNvSpPr>
          <p:nvPr>
            <p:ph type="title"/>
          </p:nvPr>
        </p:nvSpPr>
        <p:spPr>
          <a:xfrm>
            <a:off x="838200" y="365125"/>
            <a:ext cx="10515600" cy="1325563"/>
          </a:xfrm>
        </p:spPr>
        <p:txBody>
          <a:bodyPr anchor="ctr">
            <a:normAutofit/>
          </a:bodyPr>
          <a:lstStyle/>
          <a:p>
            <a:r>
              <a:rPr lang="en-US" dirty="0"/>
              <a:t>DASHBOARD TAB 1</a:t>
            </a:r>
          </a:p>
        </p:txBody>
      </p:sp>
      <p:sp>
        <p:nvSpPr>
          <p:cNvPr id="3" name="Content Placeholder 2">
            <a:extLst>
              <a:ext uri="{FF2B5EF4-FFF2-40B4-BE49-F238E27FC236}">
                <a16:creationId xmlns:a16="http://schemas.microsoft.com/office/drawing/2014/main" id="{B396FB03-F857-3EC0-249E-AE03F391502E}"/>
              </a:ext>
            </a:extLst>
          </p:cNvPr>
          <p:cNvSpPr>
            <a:spLocks noGrp="1"/>
          </p:cNvSpPr>
          <p:nvPr>
            <p:ph idx="1"/>
          </p:nvPr>
        </p:nvSpPr>
        <p:spPr>
          <a:xfrm>
            <a:off x="838200" y="1690688"/>
            <a:ext cx="10515600" cy="4351338"/>
          </a:xfrm>
        </p:spPr>
        <p:txBody>
          <a:bodyPr vert="horz" lIns="91440" tIns="45720" rIns="91440" bIns="45720" rtlCol="0" anchor="t">
            <a:normAutofit/>
          </a:bodyPr>
          <a:lstStyle/>
          <a:p>
            <a:pPr marL="0" indent="0">
              <a:buNone/>
            </a:pPr>
            <a:endParaRPr lang="en-US" dirty="0"/>
          </a:p>
          <a:p>
            <a:pPr marL="0" indent="0">
              <a:buNone/>
            </a:pPr>
            <a:endParaRPr lang="en-US" dirty="0"/>
          </a:p>
        </p:txBody>
      </p:sp>
      <p:pic>
        <p:nvPicPr>
          <p:cNvPr id="4" name="Picture 3" descr="A pie chart with a pie chart in the middle&#10;&#10;AI-generated content may be incorrect.">
            <a:extLst>
              <a:ext uri="{FF2B5EF4-FFF2-40B4-BE49-F238E27FC236}">
                <a16:creationId xmlns:a16="http://schemas.microsoft.com/office/drawing/2014/main" id="{3BBDAE39-C273-28DC-7543-BB9F808F5D8C}"/>
              </a:ext>
            </a:extLst>
          </p:cNvPr>
          <p:cNvPicPr>
            <a:picLocks noChangeAspect="1"/>
          </p:cNvPicPr>
          <p:nvPr/>
        </p:nvPicPr>
        <p:blipFill>
          <a:blip r:embed="rId3"/>
          <a:stretch>
            <a:fillRect/>
          </a:stretch>
        </p:blipFill>
        <p:spPr>
          <a:xfrm>
            <a:off x="2116666" y="1503295"/>
            <a:ext cx="10075334" cy="487681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ustDataLst>
      <p:tags r:id="rId1"/>
    </p:custDataLst>
    <p:extLst>
      <p:ext uri="{BB962C8B-B14F-4D97-AF65-F5344CB8AC3E}">
        <p14:creationId xmlns:p14="http://schemas.microsoft.com/office/powerpoint/2010/main" val="24297367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8F23D-B8D7-D0E4-EDC5-E0F023884D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F933A-3681-3D82-68EF-62EC07822DAD}"/>
              </a:ext>
            </a:extLst>
          </p:cNvPr>
          <p:cNvSpPr>
            <a:spLocks noGrp="1"/>
          </p:cNvSpPr>
          <p:nvPr>
            <p:ph type="title"/>
          </p:nvPr>
        </p:nvSpPr>
        <p:spPr>
          <a:xfrm>
            <a:off x="838200" y="365125"/>
            <a:ext cx="10515600" cy="1325563"/>
          </a:xfrm>
        </p:spPr>
        <p:txBody>
          <a:bodyPr anchor="ctr">
            <a:normAutofit/>
          </a:bodyPr>
          <a:lstStyle/>
          <a:p>
            <a:r>
              <a:rPr lang="en-US" dirty="0"/>
              <a:t>DASHBOARD TAB 2</a:t>
            </a:r>
          </a:p>
        </p:txBody>
      </p:sp>
      <p:pic>
        <p:nvPicPr>
          <p:cNvPr id="4" name="Content Placeholder 3" descr="A pie chart with a percentage&#10;&#10;AI-generated content may be incorrect.">
            <a:extLst>
              <a:ext uri="{FF2B5EF4-FFF2-40B4-BE49-F238E27FC236}">
                <a16:creationId xmlns:a16="http://schemas.microsoft.com/office/drawing/2014/main" id="{942552FE-9C56-57E2-6AF3-D70C9741B2A7}"/>
              </a:ext>
            </a:extLst>
          </p:cNvPr>
          <p:cNvPicPr>
            <a:picLocks noGrp="1" noChangeAspect="1"/>
          </p:cNvPicPr>
          <p:nvPr>
            <p:ph idx="1"/>
          </p:nvPr>
        </p:nvPicPr>
        <p:blipFill>
          <a:blip r:embed="rId3"/>
          <a:stretch>
            <a:fillRect/>
          </a:stretch>
        </p:blipFill>
        <p:spPr>
          <a:xfrm>
            <a:off x="1452880" y="1564521"/>
            <a:ext cx="9895840" cy="3699431"/>
          </a:xfrm>
        </p:spPr>
      </p:pic>
    </p:spTree>
    <p:custDataLst>
      <p:tags r:id="rId1"/>
    </p:custDataLst>
    <p:extLst>
      <p:ext uri="{BB962C8B-B14F-4D97-AF65-F5344CB8AC3E}">
        <p14:creationId xmlns:p14="http://schemas.microsoft.com/office/powerpoint/2010/main" val="20484966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62C0A-56EF-B349-A097-27B4D460D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298769-531F-C6A5-406F-D1C3D2805950}"/>
              </a:ext>
            </a:extLst>
          </p:cNvPr>
          <p:cNvSpPr>
            <a:spLocks noGrp="1"/>
          </p:cNvSpPr>
          <p:nvPr>
            <p:ph type="title"/>
          </p:nvPr>
        </p:nvSpPr>
        <p:spPr>
          <a:xfrm>
            <a:off x="838200" y="365125"/>
            <a:ext cx="10515600" cy="1325563"/>
          </a:xfrm>
        </p:spPr>
        <p:txBody>
          <a:bodyPr anchor="ctr">
            <a:normAutofit/>
          </a:bodyPr>
          <a:lstStyle/>
          <a:p>
            <a:r>
              <a:rPr lang="en-US" dirty="0"/>
              <a:t>DISCUSSION</a:t>
            </a:r>
          </a:p>
        </p:txBody>
      </p:sp>
      <p:pic>
        <p:nvPicPr>
          <p:cNvPr id="3" name="Content Placeholder 2">
            <a:extLst>
              <a:ext uri="{FF2B5EF4-FFF2-40B4-BE49-F238E27FC236}">
                <a16:creationId xmlns:a16="http://schemas.microsoft.com/office/drawing/2014/main" id="{1F45ECC1-C956-CADF-DDFD-F54C6608E401}"/>
              </a:ext>
            </a:extLst>
          </p:cNvPr>
          <p:cNvPicPr>
            <a:picLocks noGrp="1" noChangeAspect="1"/>
          </p:cNvPicPr>
          <p:nvPr>
            <p:ph sz="half" idx="1"/>
          </p:nvPr>
        </p:nvPicPr>
        <p:blipFill>
          <a:blip r:embed="rId3"/>
          <a:stretch>
            <a:fillRect/>
          </a:stretch>
        </p:blipFill>
        <p:spPr>
          <a:xfrm>
            <a:off x="1253331" y="1825625"/>
            <a:ext cx="4351338" cy="4351338"/>
          </a:xfrm>
          <a:prstGeom prst="rect">
            <a:avLst/>
          </a:prstGeom>
          <a:noFill/>
        </p:spPr>
      </p:pic>
      <p:sp>
        <p:nvSpPr>
          <p:cNvPr id="4" name="Content Placeholder 3">
            <a:extLst>
              <a:ext uri="{FF2B5EF4-FFF2-40B4-BE49-F238E27FC236}">
                <a16:creationId xmlns:a16="http://schemas.microsoft.com/office/drawing/2014/main" id="{0F67EF50-003F-6BB0-4367-42BB884C77A4}"/>
              </a:ext>
            </a:extLst>
          </p:cNvPr>
          <p:cNvSpPr>
            <a:spLocks noGrp="1"/>
          </p:cNvSpPr>
          <p:nvPr>
            <p:ph sz="half" idx="2"/>
          </p:nvPr>
        </p:nvSpPr>
        <p:spPr>
          <a:xfrm>
            <a:off x="5711238" y="1543403"/>
            <a:ext cx="5642562" cy="4633559"/>
          </a:xfrm>
        </p:spPr>
        <p:txBody>
          <a:bodyPr vert="horz" lIns="91440" tIns="45720" rIns="91440" bIns="45720" rtlCol="0" anchor="t">
            <a:normAutofit/>
          </a:bodyPr>
          <a:lstStyle/>
          <a:p>
            <a:pPr marL="0" indent="0">
              <a:lnSpc>
                <a:spcPct val="110000"/>
              </a:lnSpc>
              <a:buNone/>
            </a:pPr>
            <a:r>
              <a:rPr lang="en-US" sz="1300" dirty="0">
                <a:latin typeface="IBM Plex Sans"/>
              </a:rPr>
              <a:t>From the data visualization section, we can see that some features may have correlation with the mission outcome in several ways. For example, with heavy payloads the successful landing or positive landing rate are more for orbit types Polar, LEO and ISS. However, for GTO, we cannot distinguish this well as both positive landing rate and negative landing(unsuccessful mission) are both there here.</a:t>
            </a:r>
          </a:p>
          <a:p>
            <a:pPr marL="0" indent="0">
              <a:lnSpc>
                <a:spcPct val="110000"/>
              </a:lnSpc>
              <a:buNone/>
            </a:pPr>
            <a:r>
              <a:rPr lang="en-US" sz="1300" dirty="0">
                <a:latin typeface="IBM Plex Sans"/>
              </a:rPr>
              <a:t>Therefore, each feature may have a certain impact on the final mission outcome.</a:t>
            </a:r>
          </a:p>
          <a:p>
            <a:pPr marL="0" indent="0">
              <a:lnSpc>
                <a:spcPct val="110000"/>
              </a:lnSpc>
              <a:buNone/>
            </a:pPr>
            <a:r>
              <a:rPr lang="en-US" sz="1300" dirty="0">
                <a:latin typeface="IBM Plex Sans"/>
              </a:rPr>
              <a:t>The exact ways of how each of these features impact the mission outcome are difficult to decipher. However, we can use some machine learning algorithms to learn the pattern of the past data and predict whether a mission will be successful or not based on the given features.</a:t>
            </a:r>
          </a:p>
        </p:txBody>
      </p:sp>
    </p:spTree>
    <p:custDataLst>
      <p:tags r:id="rId1"/>
    </p:custDataLst>
    <p:extLst>
      <p:ext uri="{BB962C8B-B14F-4D97-AF65-F5344CB8AC3E}">
        <p14:creationId xmlns:p14="http://schemas.microsoft.com/office/powerpoint/2010/main" val="8573335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C0B92-B1DA-2FA2-D255-4E0D546236DC}"/>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060E4D55-FD40-8661-91CA-3E3870A7B247}"/>
              </a:ext>
            </a:extLst>
          </p:cNvPr>
          <p:cNvSpPr>
            <a:spLocks noGrp="1"/>
          </p:cNvSpPr>
          <p:nvPr>
            <p:ph type="title"/>
          </p:nvPr>
        </p:nvSpPr>
        <p:spPr>
          <a:xfrm>
            <a:off x="838200" y="365125"/>
            <a:ext cx="10515600" cy="1325563"/>
          </a:xfrm>
        </p:spPr>
        <p:txBody>
          <a:bodyPr anchor="ctr">
            <a:normAutofit/>
          </a:bodyPr>
          <a:lstStyle/>
          <a:p>
            <a:r>
              <a:rPr lang="en-US" dirty="0"/>
              <a:t>CONCLUSION</a:t>
            </a:r>
          </a:p>
        </p:txBody>
      </p:sp>
      <p:sp>
        <p:nvSpPr>
          <p:cNvPr id="12" name="Content Placeholder 3">
            <a:extLst>
              <a:ext uri="{FF2B5EF4-FFF2-40B4-BE49-F238E27FC236}">
                <a16:creationId xmlns:a16="http://schemas.microsoft.com/office/drawing/2014/main" id="{6186437B-4780-B497-BEF3-53CF2B666C36}"/>
              </a:ext>
            </a:extLst>
          </p:cNvPr>
          <p:cNvSpPr txBox="1">
            <a:spLocks/>
          </p:cNvSpPr>
          <p:nvPr/>
        </p:nvSpPr>
        <p:spPr>
          <a:xfrm>
            <a:off x="4544291" y="1571625"/>
            <a:ext cx="6809509" cy="4351338"/>
          </a:xfrm>
          <a:prstGeom prst="rect">
            <a:avLst/>
          </a:prstGeom>
        </p:spPr>
        <p:txBody>
          <a:bodyPr vert="horz" lIns="91440" tIns="45720" rIns="91440" bIns="45720" rtlCol="0" anchor="t">
            <a:normAutofit fontScale="92500" lnSpcReduction="10000"/>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300" dirty="0">
                <a:latin typeface="IBM Plex Sans"/>
              </a:rPr>
              <a:t>In this project, we try to predict if the first stage of a given Falcon 9 launch will</a:t>
            </a:r>
          </a:p>
          <a:p>
            <a:pPr marL="0" indent="0">
              <a:buNone/>
            </a:pPr>
            <a:r>
              <a:rPr lang="en-US" sz="1300" dirty="0">
                <a:latin typeface="IBM Plex Sans"/>
              </a:rPr>
              <a:t>land in order to determine the cost of a launch.</a:t>
            </a:r>
          </a:p>
          <a:p>
            <a:r>
              <a:rPr lang="en-US" sz="1300" dirty="0">
                <a:latin typeface="IBM Plex Sans"/>
              </a:rPr>
              <a:t> Each feature of a Falcon 9 launch, such as its payload mass or orbit type, may</a:t>
            </a:r>
          </a:p>
          <a:p>
            <a:pPr marL="0" indent="0">
              <a:buNone/>
            </a:pPr>
            <a:r>
              <a:rPr lang="en-US" sz="1300" dirty="0">
                <a:latin typeface="IBM Plex Sans"/>
              </a:rPr>
              <a:t>affect the mission outcome in a certain way.</a:t>
            </a:r>
          </a:p>
          <a:p>
            <a:r>
              <a:rPr lang="en-US" sz="1300" dirty="0">
                <a:latin typeface="IBM Plex Sans"/>
              </a:rPr>
              <a:t> Several machine learning algorithms are employed to learn the patterns of past</a:t>
            </a:r>
          </a:p>
          <a:p>
            <a:r>
              <a:rPr lang="en-US" sz="1300" dirty="0">
                <a:latin typeface="IBM Plex Sans"/>
              </a:rPr>
              <a:t>Falcon 9 launch data to produce predictive models that can be used to predict the</a:t>
            </a:r>
          </a:p>
          <a:p>
            <a:pPr marL="0" indent="0">
              <a:buNone/>
            </a:pPr>
            <a:r>
              <a:rPr lang="en-US" sz="1300" dirty="0">
                <a:latin typeface="IBM Plex Sans"/>
              </a:rPr>
              <a:t>outcome of a Falcon 9 launch.</a:t>
            </a:r>
          </a:p>
          <a:p>
            <a:r>
              <a:rPr lang="en-US" sz="1300" dirty="0">
                <a:latin typeface="IBM Plex Sans"/>
              </a:rPr>
              <a:t>The predictive model produced by decision tree algorithm performed the best</a:t>
            </a:r>
          </a:p>
          <a:p>
            <a:r>
              <a:rPr lang="en-US" sz="1300" dirty="0">
                <a:latin typeface="IBM Plex Sans"/>
              </a:rPr>
              <a:t>among</a:t>
            </a:r>
            <a:r>
              <a:rPr lang="en-US" sz="1300">
                <a:latin typeface="IBM Plex Sans"/>
              </a:rPr>
              <a:t> the 4 machine learning algorithms employed.</a:t>
            </a:r>
            <a:endParaRPr lang="en-US"/>
          </a:p>
          <a:p>
            <a:r>
              <a:rPr lang="en-US" sz="1300">
                <a:latin typeface="IBM Plex Sans"/>
              </a:rPr>
              <a:t>KSLC-39A: 10 site has the successful launches</a:t>
            </a:r>
            <a:endParaRPr lang="en-US" sz="1300" dirty="0">
              <a:latin typeface="IBM Plex Sans"/>
            </a:endParaRPr>
          </a:p>
          <a:p>
            <a:pPr indent="0">
              <a:buNone/>
            </a:pPr>
            <a:r>
              <a:rPr lang="en-US" sz="1300">
                <a:latin typeface="IBM Plex Sans"/>
              </a:rPr>
              <a:t>KSLC-39A: ~77% or 10 successful launches out of 13 has highest launch success rate</a:t>
            </a:r>
          </a:p>
          <a:p>
            <a:pPr indent="0">
              <a:buNone/>
            </a:pPr>
            <a:r>
              <a:rPr lang="en-US" sz="1300">
                <a:latin typeface="IBM Plex Sans"/>
              </a:rPr>
              <a:t>Most successful launches have a payload mass in an interval [360-5300] kg</a:t>
            </a:r>
          </a:p>
          <a:p>
            <a:r>
              <a:rPr lang="en-US" sz="1300">
                <a:latin typeface="IBM Plex Sans"/>
              </a:rPr>
              <a:t>Above payload mass= 5400 Kg, there is only a single </a:t>
            </a:r>
            <a:r>
              <a:rPr lang="en-US" sz="1300" err="1">
                <a:latin typeface="IBM Plex Sans"/>
              </a:rPr>
              <a:t>succesful</a:t>
            </a:r>
            <a:r>
              <a:rPr lang="en-US" sz="1300" dirty="0">
                <a:latin typeface="IBM Plex Sans"/>
              </a:rPr>
              <a:t> launch, with a 9600 kg payload</a:t>
            </a:r>
            <a:endParaRPr lang="en-US" sz="1300">
              <a:latin typeface="IBM Plex Sans"/>
            </a:endParaRPr>
          </a:p>
          <a:p>
            <a:r>
              <a:rPr lang="en-US" sz="1300">
                <a:latin typeface="IBM Plex Sans"/>
              </a:rPr>
              <a:t>Best booster version: FT: 15 successful launches out of 23 launch attempts. ~ 65%</a:t>
            </a:r>
            <a:br>
              <a:rPr lang="en-US" sz="1300" dirty="0">
                <a:latin typeface="IBM Plex Sans"/>
              </a:rPr>
            </a:br>
            <a:r>
              <a:rPr lang="en-US" sz="1300" dirty="0">
                <a:latin typeface="IBM Plex Sans"/>
              </a:rPr>
              <a:t> Second best: B4 = 6/11 about ~55%</a:t>
            </a:r>
          </a:p>
          <a:p>
            <a:pPr marL="0" indent="0">
              <a:buNone/>
            </a:pPr>
            <a:endParaRPr lang="en-US" sz="1300" dirty="0"/>
          </a:p>
        </p:txBody>
      </p:sp>
      <p:pic>
        <p:nvPicPr>
          <p:cNvPr id="13" name="Content Placeholder 5">
            <a:extLst>
              <a:ext uri="{FF2B5EF4-FFF2-40B4-BE49-F238E27FC236}">
                <a16:creationId xmlns:a16="http://schemas.microsoft.com/office/drawing/2014/main" id="{AB5A52DA-0C83-044B-9176-273966118D60}"/>
              </a:ext>
            </a:extLst>
          </p:cNvPr>
          <p:cNvPicPr>
            <a:picLocks noGrp="1" noChangeAspect="1"/>
          </p:cNvPicPr>
          <p:nvPr>
            <p:ph sz="half" idx="1"/>
          </p:nvPr>
        </p:nvPicPr>
        <p:blipFill>
          <a:blip r:embed="rId3"/>
          <a:stretch>
            <a:fillRect/>
          </a:stretch>
        </p:blipFill>
        <p:spPr>
          <a:xfrm>
            <a:off x="1125967" y="2113896"/>
            <a:ext cx="3054361" cy="3054361"/>
          </a:xfrm>
          <a:prstGeom prst="rect">
            <a:avLst/>
          </a:prstGeom>
        </p:spPr>
      </p:pic>
    </p:spTree>
    <p:custDataLst>
      <p:tags r:id="rId1"/>
    </p:custDataLst>
    <p:extLst>
      <p:ext uri="{BB962C8B-B14F-4D97-AF65-F5344CB8AC3E}">
        <p14:creationId xmlns:p14="http://schemas.microsoft.com/office/powerpoint/2010/main" val="1868286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1598F-DBE3-7B78-D1F9-0BA7F7DC75BC}"/>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34A3B939-6057-23B6-25B3-E33A2D205C2A}"/>
              </a:ext>
            </a:extLst>
          </p:cNvPr>
          <p:cNvSpPr>
            <a:spLocks noGrp="1"/>
          </p:cNvSpPr>
          <p:nvPr>
            <p:ph type="title"/>
          </p:nvPr>
        </p:nvSpPr>
        <p:spPr>
          <a:xfrm>
            <a:off x="838200" y="365125"/>
            <a:ext cx="10515600" cy="1325563"/>
          </a:xfrm>
        </p:spPr>
        <p:txBody>
          <a:bodyPr anchor="ctr">
            <a:normAutofit/>
          </a:bodyPr>
          <a:lstStyle/>
          <a:p>
            <a:r>
              <a:rPr lang="en-US" dirty="0"/>
              <a:t>APPENDIX</a:t>
            </a:r>
          </a:p>
        </p:txBody>
      </p:sp>
      <p:sp>
        <p:nvSpPr>
          <p:cNvPr id="10" name="Content Placeholder 3">
            <a:extLst>
              <a:ext uri="{FF2B5EF4-FFF2-40B4-BE49-F238E27FC236}">
                <a16:creationId xmlns:a16="http://schemas.microsoft.com/office/drawing/2014/main" id="{8E40FF55-AE57-CB43-454D-CEFBE080CE8E}"/>
              </a:ext>
            </a:extLst>
          </p:cNvPr>
          <p:cNvSpPr txBox="1">
            <a:spLocks/>
          </p:cNvSpPr>
          <p:nvPr/>
        </p:nvSpPr>
        <p:spPr>
          <a:xfrm>
            <a:off x="734291" y="1468144"/>
            <a:ext cx="10506620" cy="4341931"/>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900" dirty="0">
                <a:solidFill>
                  <a:schemeClr val="accent2">
                    <a:lumMod val="49000"/>
                  </a:schemeClr>
                </a:solidFill>
                <a:hlinkClick r:id="rId3">
                  <a:extLst>
                    <a:ext uri="{A12FA001-AC4F-418D-AE19-62706E023703}">
                      <ahyp:hlinkClr xmlns:ahyp="http://schemas.microsoft.com/office/drawing/2018/hyperlinkcolor" val="tx"/>
                    </a:ext>
                  </a:extLst>
                </a:hlinkClick>
              </a:rPr>
              <a:t>https://api.spacexdata.com/v4/rockets/</a:t>
            </a:r>
            <a:endParaRPr lang="en-US" sz="1900" dirty="0">
              <a:solidFill>
                <a:schemeClr val="accent2">
                  <a:lumMod val="49000"/>
                </a:schemeClr>
              </a:solidFill>
            </a:endParaRPr>
          </a:p>
          <a:p>
            <a:r>
              <a:rPr lang="en-US" sz="1900" dirty="0">
                <a:solidFill>
                  <a:schemeClr val="accent2">
                    <a:lumMod val="49000"/>
                  </a:schemeClr>
                </a:solidFill>
                <a:hlinkClick r:id="rId4">
                  <a:extLst>
                    <a:ext uri="{A12FA001-AC4F-418D-AE19-62706E023703}">
                      <ahyp:hlinkClr xmlns:ahyp="http://schemas.microsoft.com/office/drawing/2018/hyperlinkcolor" val="tx"/>
                    </a:ext>
                  </a:extLst>
                </a:hlinkClick>
              </a:rPr>
              <a:t>https://en.wikipedia.org/wiki/List_of_Falcon_9_and_Falcon_Heavy_launches</a:t>
            </a:r>
            <a:endParaRPr lang="en-US" sz="1900" dirty="0">
              <a:solidFill>
                <a:schemeClr val="accent2">
                  <a:lumMod val="49000"/>
                </a:schemeClr>
              </a:solidFill>
            </a:endParaRPr>
          </a:p>
          <a:p>
            <a:r>
              <a:rPr lang="en-US" sz="1900" dirty="0">
                <a:solidFill>
                  <a:schemeClr val="accent2">
                    <a:lumMod val="49000"/>
                  </a:schemeClr>
                </a:solidFill>
                <a:hlinkClick r:id="rId5">
                  <a:extLst>
                    <a:ext uri="{A12FA001-AC4F-418D-AE19-62706E023703}">
                      <ahyp:hlinkClr xmlns:ahyp="http://schemas.microsoft.com/office/drawing/2018/hyperlinkcolor" val="tx"/>
                    </a:ext>
                  </a:extLst>
                </a:hlinkClick>
              </a:rPr>
              <a:t>https://github.com/sunandasharma/FinalAssignment/blob/Master/spacex-dash-app%20(3).py</a:t>
            </a:r>
            <a:endParaRPr lang="en-US" sz="1900">
              <a:solidFill>
                <a:schemeClr val="accent2">
                  <a:lumMod val="49000"/>
                </a:schemeClr>
              </a:solidFill>
              <a:hlinkClick r:id="rId5">
                <a:extLst>
                  <a:ext uri="{A12FA001-AC4F-418D-AE19-62706E023703}">
                    <ahyp:hlinkClr xmlns:ahyp="http://schemas.microsoft.com/office/drawing/2018/hyperlinkcolor" val="tx"/>
                  </a:ext>
                </a:extLst>
              </a:hlinkClick>
            </a:endParaRPr>
          </a:p>
          <a:p>
            <a:r>
              <a:rPr lang="en-US" sz="1900" dirty="0">
                <a:solidFill>
                  <a:schemeClr val="accent2">
                    <a:lumMod val="49000"/>
                  </a:schemeClr>
                </a:solidFill>
                <a:hlinkClick r:id="rId6">
                  <a:extLst>
                    <a:ext uri="{A12FA001-AC4F-418D-AE19-62706E023703}">
                      <ahyp:hlinkClr xmlns:ahyp="http://schemas.microsoft.com/office/drawing/2018/hyperlinkcolor" val="tx"/>
                    </a:ext>
                  </a:extLst>
                </a:hlinkClick>
              </a:rPr>
              <a:t>https://github.com/sunandasharma/FinalAssignment/blob/Master/SpaceX_Machine%20Learning%20Prediction_Part_5.ipynb</a:t>
            </a:r>
          </a:p>
          <a:p>
            <a:r>
              <a:rPr lang="en-US" sz="1900" dirty="0">
                <a:solidFill>
                  <a:schemeClr val="accent2">
                    <a:lumMod val="49000"/>
                  </a:schemeClr>
                </a:solidFill>
                <a:hlinkClick r:id="rId7">
                  <a:extLst>
                    <a:ext uri="{A12FA001-AC4F-418D-AE19-62706E023703}">
                      <ahyp:hlinkClr xmlns:ahyp="http://schemas.microsoft.com/office/drawing/2018/hyperlinkcolor" val="tx"/>
                    </a:ext>
                  </a:extLst>
                </a:hlinkClick>
              </a:rPr>
              <a:t>https://github.com/sunandasharma/FinalAssignment/blob/Master/edadataviz.ipynb</a:t>
            </a:r>
            <a:endParaRPr lang="en-US" sz="1900" dirty="0">
              <a:solidFill>
                <a:schemeClr val="accent2">
                  <a:lumMod val="49000"/>
                </a:schemeClr>
              </a:solidFill>
            </a:endParaRPr>
          </a:p>
          <a:p>
            <a:r>
              <a:rPr lang="en-US" sz="1900" dirty="0">
                <a:solidFill>
                  <a:schemeClr val="accent2">
                    <a:lumMod val="49000"/>
                  </a:schemeClr>
                </a:solidFill>
                <a:hlinkClick r:id="rId8">
                  <a:extLst>
                    <a:ext uri="{A12FA001-AC4F-418D-AE19-62706E023703}">
                      <ahyp:hlinkClr xmlns:ahyp="http://schemas.microsoft.com/office/drawing/2018/hyperlinkcolor" val="tx"/>
                    </a:ext>
                  </a:extLst>
                </a:hlinkClick>
              </a:rPr>
              <a:t>https://github.com/sunandasharma/FinalAssignment/blob/Master/jupyter-labs-eda-sql-coursera_sqllite.ipynb</a:t>
            </a:r>
          </a:p>
          <a:p>
            <a:r>
              <a:rPr lang="en-US" sz="1900" dirty="0">
                <a:solidFill>
                  <a:schemeClr val="accent2">
                    <a:lumMod val="49000"/>
                  </a:schemeClr>
                </a:solidFill>
                <a:hlinkClick r:id="rId9">
                  <a:extLst>
                    <a:ext uri="{A12FA001-AC4F-418D-AE19-62706E023703}">
                      <ahyp:hlinkClr xmlns:ahyp="http://schemas.microsoft.com/office/drawing/2018/hyperlinkcolor" val="tx"/>
                    </a:ext>
                  </a:extLst>
                </a:hlinkClick>
              </a:rPr>
              <a:t>https://github.com/sunandasharma/FinalAssignment/blob/Master/jupyter-labs-spacex-data-collection-api%20(1).ipynb</a:t>
            </a:r>
          </a:p>
          <a:p>
            <a:r>
              <a:rPr lang="en-US" sz="1900" dirty="0">
                <a:solidFill>
                  <a:schemeClr val="accent2">
                    <a:lumMod val="49000"/>
                  </a:schemeClr>
                </a:solidFill>
                <a:hlinkClick r:id="rId10">
                  <a:extLst>
                    <a:ext uri="{A12FA001-AC4F-418D-AE19-62706E023703}">
                      <ahyp:hlinkClr xmlns:ahyp="http://schemas.microsoft.com/office/drawing/2018/hyperlinkcolor" val="tx"/>
                    </a:ext>
                  </a:extLst>
                </a:hlinkClick>
              </a:rPr>
              <a:t>https://github.com/sunandasharma/FinalAssignment/blob/Master/jupyter-labs-webscraping%20(2).ipynb</a:t>
            </a:r>
          </a:p>
          <a:p>
            <a:r>
              <a:rPr lang="en-US" sz="1900" dirty="0">
                <a:solidFill>
                  <a:schemeClr val="accent2">
                    <a:lumMod val="49000"/>
                  </a:schemeClr>
                </a:solidFill>
                <a:hlinkClick r:id="rId11">
                  <a:extLst>
                    <a:ext uri="{A12FA001-AC4F-418D-AE19-62706E023703}">
                      <ahyp:hlinkClr xmlns:ahyp="http://schemas.microsoft.com/office/drawing/2018/hyperlinkcolor" val="tx"/>
                    </a:ext>
                  </a:extLst>
                </a:hlinkClick>
              </a:rPr>
              <a:t>https://github.com/sunandasharma/FinalAssignment/blob/Master/labs-jupyter-spacex-Data%20wrangling.ipynb</a:t>
            </a:r>
          </a:p>
          <a:p>
            <a:r>
              <a:rPr lang="en-US" sz="1900" dirty="0">
                <a:solidFill>
                  <a:schemeClr val="accent2">
                    <a:lumMod val="49000"/>
                  </a:schemeClr>
                </a:solidFill>
                <a:hlinkClick r:id="rId12">
                  <a:extLst>
                    <a:ext uri="{A12FA001-AC4F-418D-AE19-62706E023703}">
                      <ahyp:hlinkClr xmlns:ahyp="http://schemas.microsoft.com/office/drawing/2018/hyperlinkcolor" val="tx"/>
                    </a:ext>
                  </a:extLst>
                </a:hlinkClick>
              </a:rPr>
              <a:t>https://github.com/sunandasharma/FinalAssignment/blob/Master/spacex_launch_dash.csv</a:t>
            </a:r>
            <a:endParaRPr lang="en-US" sz="1900" dirty="0">
              <a:solidFill>
                <a:schemeClr val="accent2">
                  <a:lumMod val="49000"/>
                </a:schemeClr>
              </a:solidFill>
            </a:endParaRPr>
          </a:p>
          <a:p>
            <a:endParaRPr lang="en-US" dirty="0">
              <a:solidFill>
                <a:schemeClr val="accent2">
                  <a:lumMod val="49000"/>
                </a:schemeClr>
              </a:solidFill>
            </a:endParaRPr>
          </a:p>
        </p:txBody>
      </p:sp>
    </p:spTree>
    <p:custDataLst>
      <p:tags r:id="rId1"/>
    </p:custDataLst>
    <p:extLst>
      <p:ext uri="{BB962C8B-B14F-4D97-AF65-F5344CB8AC3E}">
        <p14:creationId xmlns:p14="http://schemas.microsoft.com/office/powerpoint/2010/main" val="18601586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8"/>
  <p:tag name="ARTICULATE_DESIGN_ID_SLIDE_TEMPLATE_SKILL_NETWORK" val="762xjmeN"/>
  <p:tag name="ARTICULATE_DESIGN_ID_IBM DEVELOPER 2018 WHITE BACKGROUND" val="AcyDFp8V"/>
  <p:tag name="ARTICULATE_SLIDE_THUMBNAIL_REFRESH" val="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LIDE_TEMPLATE_skill_network">
  <a:themeElements>
    <a:clrScheme name="IBM Skills Network">
      <a:dk1>
        <a:srgbClr val="262626"/>
      </a:dk1>
      <a:lt1>
        <a:srgbClr val="525252"/>
      </a:lt1>
      <a:dk2>
        <a:srgbClr val="FFFFFF"/>
      </a:dk2>
      <a:lt2>
        <a:srgbClr val="FFFFFF"/>
      </a:lt2>
      <a:accent1>
        <a:srgbClr val="6C4DEA"/>
      </a:accent1>
      <a:accent2>
        <a:srgbClr val="82CFFF"/>
      </a:accent2>
      <a:accent3>
        <a:srgbClr val="FF7EB6"/>
      </a:accent3>
      <a:accent4>
        <a:srgbClr val="3DDBD9"/>
      </a:accent4>
      <a:accent5>
        <a:srgbClr val="5B9BD5"/>
      </a:accent5>
      <a:accent6>
        <a:srgbClr val="525252"/>
      </a:accent6>
      <a:hlink>
        <a:srgbClr val="C1C7CD"/>
      </a:hlink>
      <a:folHlink>
        <a:srgbClr val="DA1E28"/>
      </a:folHlink>
    </a:clrScheme>
    <a:fontScheme name="IBM Skills Network">
      <a:majorFont>
        <a:latin typeface="IBM Plex Sans SemiBold"/>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BM Skills Network PPT Template 01.2023.pptx" id="{565886F7-76CC-4370-877F-2511E1EB1B28}" vid="{AD061E48-3596-4052-9172-46F1919207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9" ma:contentTypeDescription="Create a new document." ma:contentTypeScope="" ma:versionID="d7279d4efbac013e02c1e816bc7f7c13">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0a3fd1dbe83fc08387abb87098562ef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AWBlink"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bfc8dc1-ab14-4a6b-8a4a-9f7f0b948a9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AWBlink" ma:index="25" nillable="true" ma:displayName="AWB link" ma:description="Author Workbench link" ma:format="Dropdown" ma:internalName="AWBlink">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2edd55d-11a0-43df-8094-42adcb6055ca}" ma:internalName="TaxCatchAll" ma:showField="CatchAllData" ma:web="f80a141d-92ca-4d3d-9308-f7e7b1d44ce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55be751-a274-42e8-93fb-f39d3b9bccc8">
      <Terms xmlns="http://schemas.microsoft.com/office/infopath/2007/PartnerControls"/>
    </lcf76f155ced4ddcb4097134ff3c332f>
    <TaxCatchAll xmlns="f80a141d-92ca-4d3d-9308-f7e7b1d44ce8" xsi:nil="true"/>
    <AWBlink xmlns="155be751-a274-42e8-93fb-f39d3b9bccc8" xsi:nil="true"/>
  </documentManagement>
</p:properties>
</file>

<file path=customXml/itemProps1.xml><?xml version="1.0" encoding="utf-8"?>
<ds:datastoreItem xmlns:ds="http://schemas.openxmlformats.org/officeDocument/2006/customXml" ds:itemID="{BEAB06F8-DBB4-44C7-AF84-8B098C8B039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55be751-a274-42e8-93fb-f39d3b9bccc8"/>
    <ds:schemaRef ds:uri="f80a141d-92ca-4d3d-9308-f7e7b1d44c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EFDA260-DDA0-422C-B7AE-778F653FBB36}">
  <ds:schemaRefs>
    <ds:schemaRef ds:uri="http://schemas.microsoft.com/sharepoint/v3/contenttype/forms"/>
  </ds:schemaRefs>
</ds:datastoreItem>
</file>

<file path=customXml/itemProps3.xml><?xml version="1.0" encoding="utf-8"?>
<ds:datastoreItem xmlns:ds="http://schemas.openxmlformats.org/officeDocument/2006/customXml" ds:itemID="{54DA07C5-A406-4A0D-B3E6-3856C94AC7F3}">
  <ds:schemaRefs>
    <ds:schemaRef ds:uri="155be751-a274-42e8-93fb-f39d3b9bccc8"/>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f80a141d-92ca-4d3d-9308-f7e7b1d44ce8"/>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IBM PPT Temp Jan 2023</Template>
  <TotalTime>5</TotalTime>
  <Words>351</Words>
  <Application>Microsoft Office PowerPoint</Application>
  <PresentationFormat>Widescreen</PresentationFormat>
  <Paragraphs>107</Paragraphs>
  <Slides>40</Slides>
  <Notes>0</Notes>
  <HiddenSlides>0</HiddenSlides>
  <MMClips>0</MMClip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SLIDE_TEMPLATE_skill_network</vt:lpstr>
      <vt:lpstr>SpaceX Falcon Launch fIN Findings</vt:lpstr>
      <vt:lpstr>PowerPoint Presentation</vt:lpstr>
      <vt:lpstr>EXECUTIVE SUMMARY</vt:lpstr>
      <vt:lpstr>INTRODUCTION: BUSINESS PROBLEM</vt:lpstr>
      <vt:lpstr>METHODOLOGY</vt:lpstr>
      <vt:lpstr>METHODOLOGY (Data Collection, Data Wrangling, Formatting)</vt:lpstr>
      <vt:lpstr>METHODOLOGY (Data Collection, Data Wrangling, Formatting)</vt:lpstr>
      <vt:lpstr>METHODOLOGY (Data Collection, Data Wrangling, Formatting)</vt:lpstr>
      <vt:lpstr>METHODOLOGY (Exploratory Data Analysis(EDA))</vt:lpstr>
      <vt:lpstr>METHODOLOGY (Data Visualization)</vt:lpstr>
      <vt:lpstr>METHODOLOGY (Data Visualization)</vt:lpstr>
      <vt:lpstr>METHODOLOGY (Machine Learning Prediction)</vt:lpstr>
      <vt:lpstr>RESULTS</vt:lpstr>
      <vt:lpstr>RESULTS(SQL-EDA with SQL)</vt:lpstr>
      <vt:lpstr>RESULTS(SQL-EDA with SQL)</vt:lpstr>
      <vt:lpstr>RESULTS(SQL-EDA with SQL)</vt:lpstr>
      <vt:lpstr>RESULTS(SQL-EDA with SQL)</vt:lpstr>
      <vt:lpstr>RESULTS(SQL-EDA with SQL)</vt:lpstr>
      <vt:lpstr>RESULTS Matplotlib and Seaborn (EDA with Visualization)</vt:lpstr>
      <vt:lpstr>RESULTS Matplotlib and Seaborn (EDA with Visualization)</vt:lpstr>
      <vt:lpstr>RESULTS Matplotlib and Seaborn (EDA with Visualization)</vt:lpstr>
      <vt:lpstr>RESULTS Matplotlib and Seaborn (EDA with Visualization)</vt:lpstr>
      <vt:lpstr>RESULTS Matplotlib and Seaborn (EDA with Visualization)</vt:lpstr>
      <vt:lpstr>RESULTS Matplotlib and Seaborn (EDA with Visualization)</vt:lpstr>
      <vt:lpstr>RESULTS (Folium)</vt:lpstr>
      <vt:lpstr>RESULTS (Folium)</vt:lpstr>
      <vt:lpstr>RESULTS (Folium)</vt:lpstr>
      <vt:lpstr>RESULTS (Dash)</vt:lpstr>
      <vt:lpstr>RESULTS (Dash)</vt:lpstr>
      <vt:lpstr>RESULTS (Predictive Analysis)</vt:lpstr>
      <vt:lpstr>RESULTS (Predictive Analysis)</vt:lpstr>
      <vt:lpstr>RESULTS (Predictive Analysis)</vt:lpstr>
      <vt:lpstr>RESULTS (Predictive Analysis)</vt:lpstr>
      <vt:lpstr>RESULTS (Predictive Analysis)</vt:lpstr>
      <vt:lpstr>DASHBOARD</vt:lpstr>
      <vt:lpstr>DASHBOARD TAB 1</vt:lpstr>
      <vt:lpstr>DASHBOARD TAB 2</vt:lpstr>
      <vt:lpstr>DISCUSSION</vt:lpstr>
      <vt:lpstr>CONCLUSION</vt:lpstr>
      <vt:lpstr>APPENDIX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Tori Sleeper</dc:creator>
  <cp:lastModifiedBy>Tori Sleeper</cp:lastModifiedBy>
  <cp:revision>617</cp:revision>
  <dcterms:created xsi:type="dcterms:W3CDTF">2024-10-30T05:40:03Z</dcterms:created>
  <dcterms:modified xsi:type="dcterms:W3CDTF">2025-05-17T18:32:30Z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y fmtid="{D5CDD505-2E9C-101B-9397-08002B2CF9AE}" pid="3" name="MediaServiceImageTags">
    <vt:lpwstr/>
  </property>
  <property fmtid="{D5CDD505-2E9C-101B-9397-08002B2CF9AE}" pid="4" name="ArticulateGUID">
    <vt:lpwstr>07C438A6-8092-445C-AC0D-AE1422093206</vt:lpwstr>
  </property>
  <property fmtid="{D5CDD505-2E9C-101B-9397-08002B2CF9AE}" pid="5" name="ArticulatePath">
    <vt:lpwstr>https://skilluptech.sharepoint.com/sites/Coursera/Shared Documents/General/PPT template/IBM Skills Network PPT Template 01.2023</vt:lpwstr>
  </property>
</Properties>
</file>